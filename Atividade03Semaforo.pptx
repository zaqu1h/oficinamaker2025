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7103725" cy="102342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370">
          <p15:clr>
            <a:srgbClr val="A4A3A4"/>
          </p15:clr>
        </p15:guide>
        <p15:guide id="2" pos="3892">
          <p15:clr>
            <a:srgbClr val="A4A3A4"/>
          </p15:clr>
        </p15:guide>
      </p15:sldGuideLst>
    </p:ext>
    <p:ext uri="GoogleSlidesCustomDataVersion2">
      <go:slidesCustomData xmlns:go="http://customooxmlschemas.google.com/" r:id="rId15" roundtripDataSignature="AMtx7mjVRALCWn8GMcVX9JPLIkM83nSRu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370" orient="horz"/>
        <p:guide pos="3892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customschemas.google.com/relationships/presentationmetadata" Target="meta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78163" cy="5127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4024313" y="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9721850"/>
            <a:ext cx="3078163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1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9" name="Google Shape;79;p1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" name="Google Shape;93;p2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4" name="Google Shape;94;p2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5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5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0" name="Google Shape;110;p5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885b3209d_0_85:notes"/>
          <p:cNvSpPr/>
          <p:nvPr>
            <p:ph idx="2" type="sldImg"/>
          </p:nvPr>
        </p:nvSpPr>
        <p:spPr>
          <a:xfrm>
            <a:off x="482600" y="1279525"/>
            <a:ext cx="6140400" cy="345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g3f885b3209d_0_85:notes"/>
          <p:cNvSpPr txBox="1"/>
          <p:nvPr>
            <p:ph idx="1" type="body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1" name="Google Shape;121;g3f885b3209d_0_85:notes"/>
          <p:cNvSpPr txBox="1"/>
          <p:nvPr>
            <p:ph idx="12" type="sldNum"/>
          </p:nvPr>
        </p:nvSpPr>
        <p:spPr>
          <a:xfrm>
            <a:off x="4024313" y="9721850"/>
            <a:ext cx="3078300" cy="51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7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p7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4" name="Google Shape;134;p7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8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8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2" name="Google Shape;152;p8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p9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2" name="Google Shape;162;p9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0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p10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5" name="Google Shape;175;p10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1:notes"/>
          <p:cNvSpPr/>
          <p:nvPr>
            <p:ph idx="2" type="sldImg"/>
          </p:nvPr>
        </p:nvSpPr>
        <p:spPr>
          <a:xfrm>
            <a:off x="482600" y="1279525"/>
            <a:ext cx="6140450" cy="34544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3" name="Google Shape;183;p11:notes"/>
          <p:cNvSpPr txBox="1"/>
          <p:nvPr>
            <p:ph idx="1" type="body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4" name="Google Shape;184;p11:notes"/>
          <p:cNvSpPr txBox="1"/>
          <p:nvPr>
            <p:ph idx="12" type="sldNum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/>
          <p:nvPr>
            <p:ph type="ctrTitle"/>
          </p:nvPr>
        </p:nvSpPr>
        <p:spPr>
          <a:xfrm>
            <a:off x="1524000" y="1322962"/>
            <a:ext cx="9144000" cy="21870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" name="Google Shape;20;p1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400"/>
              <a:buNone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/>
          <p:nvPr>
            <p:ph type="title"/>
          </p:nvPr>
        </p:nvSpPr>
        <p:spPr>
          <a:xfrm>
            <a:off x="647700" y="25844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1" sz="44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4"/>
          <p:cNvSpPr txBox="1"/>
          <p:nvPr>
            <p:ph idx="1" type="body"/>
          </p:nvPr>
        </p:nvSpPr>
        <p:spPr>
          <a:xfrm>
            <a:off x="6477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sz="2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/>
          <p:nvPr>
            <p:ph type="title"/>
          </p:nvPr>
        </p:nvSpPr>
        <p:spPr>
          <a:xfrm>
            <a:off x="831850" y="3750945"/>
            <a:ext cx="9843135" cy="8115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5"/>
          <p:cNvSpPr txBox="1"/>
          <p:nvPr>
            <p:ph idx="1" type="body"/>
          </p:nvPr>
        </p:nvSpPr>
        <p:spPr>
          <a:xfrm>
            <a:off x="831850" y="4610028"/>
            <a:ext cx="7321550" cy="6475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F7F7F"/>
              </a:buClr>
              <a:buSzPts val="2400"/>
              <a:buNone/>
              <a:defRPr sz="2400">
                <a:solidFill>
                  <a:srgbClr val="7F7F7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/>
          <p:nvPr>
            <p:ph type="title"/>
          </p:nvPr>
        </p:nvSpPr>
        <p:spPr>
          <a:xfrm>
            <a:off x="647700" y="25844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6"/>
          <p:cNvSpPr txBox="1"/>
          <p:nvPr>
            <p:ph idx="1" type="body"/>
          </p:nvPr>
        </p:nvSpPr>
        <p:spPr>
          <a:xfrm>
            <a:off x="6477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sz="2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1800"/>
              <a:buChar char="•"/>
              <a:defRPr sz="180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6"/>
          <p:cNvSpPr txBox="1"/>
          <p:nvPr>
            <p:ph idx="2" type="body"/>
          </p:nvPr>
        </p:nvSpPr>
        <p:spPr>
          <a:xfrm>
            <a:off x="59817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  <a:defRPr b="0" i="0" sz="2800" u="none" cap="none" strike="noStrik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400"/>
              <a:buChar char="•"/>
              <a:defRPr sz="2400">
                <a:solidFill>
                  <a:srgbClr val="3F3F3F"/>
                </a:solidFill>
              </a:defRPr>
            </a:lvl2pPr>
            <a:lvl3pPr indent="-355600" lvl="2" marL="13716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3pPr>
            <a:lvl4pPr indent="-355600" lvl="3" marL="18288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4pPr>
            <a:lvl5pPr indent="-355600" lvl="4" marL="228600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3F3F3F"/>
              </a:buClr>
              <a:buSzPts val="2000"/>
              <a:buChar char="•"/>
              <a:defRPr sz="2000">
                <a:solidFill>
                  <a:srgbClr val="3F3F3F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7"/>
          <p:cNvSpPr txBox="1"/>
          <p:nvPr>
            <p:ph idx="1" type="body"/>
          </p:nvPr>
        </p:nvSpPr>
        <p:spPr>
          <a:xfrm>
            <a:off x="839788" y="1744961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7"/>
          <p:cNvSpPr txBox="1"/>
          <p:nvPr>
            <p:ph idx="2" type="body"/>
          </p:nvPr>
        </p:nvSpPr>
        <p:spPr>
          <a:xfrm>
            <a:off x="839788" y="2615609"/>
            <a:ext cx="5157787" cy="35740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7"/>
          <p:cNvSpPr txBox="1"/>
          <p:nvPr>
            <p:ph idx="3" type="body"/>
          </p:nvPr>
        </p:nvSpPr>
        <p:spPr>
          <a:xfrm>
            <a:off x="6172200" y="1744961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7"/>
          <p:cNvSpPr txBox="1"/>
          <p:nvPr>
            <p:ph idx="4" type="body"/>
          </p:nvPr>
        </p:nvSpPr>
        <p:spPr>
          <a:xfrm>
            <a:off x="6172200" y="2615609"/>
            <a:ext cx="5183188" cy="357405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/>
          <p:nvPr>
            <p:ph type="title"/>
          </p:nvPr>
        </p:nvSpPr>
        <p:spPr>
          <a:xfrm>
            <a:off x="838200" y="276621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sz="44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0"/>
          <p:cNvSpPr txBox="1"/>
          <p:nvPr>
            <p:ph type="title"/>
          </p:nvPr>
        </p:nvSpPr>
        <p:spPr>
          <a:xfrm>
            <a:off x="646747" y="127000"/>
            <a:ext cx="41652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sz="32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/>
          <p:nvPr>
            <p:ph idx="2" type="pic"/>
          </p:nvPr>
        </p:nvSpPr>
        <p:spPr>
          <a:xfrm>
            <a:off x="5184000" y="766354"/>
            <a:ext cx="5817375" cy="5094446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20"/>
          <p:cNvSpPr txBox="1"/>
          <p:nvPr>
            <p:ph idx="1" type="body"/>
          </p:nvPr>
        </p:nvSpPr>
        <p:spPr>
          <a:xfrm>
            <a:off x="651827" y="2057400"/>
            <a:ext cx="4165200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1"/>
          <p:cNvSpPr txBox="1"/>
          <p:nvPr>
            <p:ph type="title"/>
          </p:nvPr>
        </p:nvSpPr>
        <p:spPr>
          <a:xfrm rot="5400000">
            <a:off x="7683223" y="2506386"/>
            <a:ext cx="5811838" cy="15293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" type="body"/>
          </p:nvPr>
        </p:nvSpPr>
        <p:spPr>
          <a:xfrm rot="5400000">
            <a:off x="2372260" y="-1168935"/>
            <a:ext cx="5811838" cy="88799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">
  <p:cSld name="Conten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5" name="Google Shape;75;p22"/>
          <p:cNvSpPr txBox="1"/>
          <p:nvPr>
            <p:ph idx="1" type="body"/>
          </p:nvPr>
        </p:nvSpPr>
        <p:spPr>
          <a:xfrm>
            <a:off x="838200" y="551543"/>
            <a:ext cx="10515600" cy="55589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2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0" i="0" sz="4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8.png"/><Relationship Id="rId10" Type="http://schemas.openxmlformats.org/officeDocument/2006/relationships/image" Target="../media/image16.png"/><Relationship Id="rId9" Type="http://schemas.openxmlformats.org/officeDocument/2006/relationships/image" Target="../media/image11.png"/><Relationship Id="rId5" Type="http://schemas.openxmlformats.org/officeDocument/2006/relationships/image" Target="../media/image13.png"/><Relationship Id="rId6" Type="http://schemas.openxmlformats.org/officeDocument/2006/relationships/image" Target="../media/image15.png"/><Relationship Id="rId7" Type="http://schemas.openxmlformats.org/officeDocument/2006/relationships/image" Target="../media/image1.png"/><Relationship Id="rId8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"/>
          <p:cNvSpPr txBox="1"/>
          <p:nvPr>
            <p:ph idx="1" type="subTitle"/>
          </p:nvPr>
        </p:nvSpPr>
        <p:spPr>
          <a:xfrm>
            <a:off x="2113286" y="2169150"/>
            <a:ext cx="7952400" cy="27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</a:pPr>
            <a:r>
              <a:rPr b="1" lang="en-US" sz="4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Projeto de ensino</a:t>
            </a:r>
            <a:r>
              <a:rPr lang="en-US" sz="4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sz="4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Atividades</a:t>
            </a:r>
            <a:r>
              <a:rPr b="1"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Maker para Alunos do Ensino Médio</a:t>
            </a:r>
            <a:b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Atividade 3 - Sem</a:t>
            </a: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áforo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F3F3F"/>
              </a:buClr>
              <a:buSzPts val="2800"/>
              <a:buNone/>
            </a:pPr>
            <a:r>
              <a:t/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Autor: Isaque Silva Passos Ribeiro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Colaborador: Gabriel Lucas de Oliveira César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2" name="Google Shape;82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995025" y="500507"/>
            <a:ext cx="842772" cy="1092403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"/>
          <p:cNvPicPr preferRelativeResize="0"/>
          <p:nvPr/>
        </p:nvPicPr>
        <p:blipFill rotWithShape="1">
          <a:blip r:embed="rId4">
            <a:alphaModFix/>
          </a:blip>
          <a:srcRect b="0" l="0" r="61296" t="0"/>
          <a:stretch/>
        </p:blipFill>
        <p:spPr>
          <a:xfrm>
            <a:off x="563245" y="553720"/>
            <a:ext cx="10224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/>
          <p:nvPr/>
        </p:nvSpPr>
        <p:spPr>
          <a:xfrm>
            <a:off x="1939925" y="2573656"/>
            <a:ext cx="2334895" cy="3530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91425" spcFirstLastPara="1" rIns="91425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Title</a:t>
            </a:r>
            <a:endParaRPr b="1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/>
          <p:nvPr/>
        </p:nvSpPr>
        <p:spPr>
          <a:xfrm>
            <a:off x="1463675" y="2574291"/>
            <a:ext cx="452755" cy="3524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1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8" name="Google Shape;88;p1"/>
          <p:cNvPicPr preferRelativeResize="0"/>
          <p:nvPr/>
        </p:nvPicPr>
        <p:blipFill rotWithShape="1">
          <a:blip r:embed="rId4">
            <a:alphaModFix/>
          </a:blip>
          <a:srcRect b="-5708" l="32768" r="-8782" t="5708"/>
          <a:stretch/>
        </p:blipFill>
        <p:spPr>
          <a:xfrm>
            <a:off x="76200" y="1315720"/>
            <a:ext cx="1808480" cy="686435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"/>
          <p:cNvSpPr txBox="1"/>
          <p:nvPr/>
        </p:nvSpPr>
        <p:spPr>
          <a:xfrm>
            <a:off x="5271770" y="5972810"/>
            <a:ext cx="16479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Bahia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202</a:t>
            </a:r>
            <a:r>
              <a:rPr lang="en-US" sz="2000">
                <a:latin typeface="Times New Roman"/>
                <a:ea typeface="Times New Roman"/>
                <a:cs typeface="Times New Roman"/>
                <a:sym typeface="Times New Roman"/>
              </a:rPr>
              <a:t>5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753825" y="500500"/>
            <a:ext cx="10671300" cy="1294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Universidade Estadual de Santa Cruz</a:t>
            </a:r>
            <a:endParaRPr sz="24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Programa de Iniciação à Docência - PID, Edital N° 54/2025</a:t>
            </a:r>
            <a:br>
              <a:rPr lang="en-US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Ciência da Computação</a:t>
            </a:r>
            <a:endParaRPr sz="24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/>
          <p:nvPr/>
        </p:nvSpPr>
        <p:spPr>
          <a:xfrm>
            <a:off x="-127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 txBox="1"/>
          <p:nvPr>
            <p:ph idx="12" type="sldNum"/>
          </p:nvPr>
        </p:nvSpPr>
        <p:spPr>
          <a:xfrm>
            <a:off x="11520170" y="6356350"/>
            <a:ext cx="4679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620395" y="1800225"/>
            <a:ext cx="11000700" cy="43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8575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Protoboard: A placa de ensaio</a:t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Os resistores</a:t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 Semáforo</a:t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45720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Lista dos materiais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45720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simulação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45720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 código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0565775" y="1700784"/>
            <a:ext cx="468000" cy="40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r>
            <a:endParaRPr b="0" i="0" sz="3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01" name="Google Shape;101;p2"/>
          <p:cNvCxnSpPr/>
          <p:nvPr/>
        </p:nvCxnSpPr>
        <p:spPr>
          <a:xfrm flipH="1" rot="10800000">
            <a:off x="5955800" y="2208200"/>
            <a:ext cx="4627500" cy="19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102" name="Google Shape;102;p2"/>
          <p:cNvCxnSpPr/>
          <p:nvPr/>
        </p:nvCxnSpPr>
        <p:spPr>
          <a:xfrm flipH="1" rot="10800000">
            <a:off x="3231500" y="2677300"/>
            <a:ext cx="7351800" cy="15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103" name="Google Shape;103;p2"/>
          <p:cNvCxnSpPr/>
          <p:nvPr/>
        </p:nvCxnSpPr>
        <p:spPr>
          <a:xfrm>
            <a:off x="2547125" y="4471500"/>
            <a:ext cx="8038800" cy="42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104" name="Google Shape;104;p2"/>
          <p:cNvCxnSpPr/>
          <p:nvPr/>
        </p:nvCxnSpPr>
        <p:spPr>
          <a:xfrm>
            <a:off x="2994975" y="4086700"/>
            <a:ext cx="7601100" cy="300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105" name="Google Shape;105;p2"/>
          <p:cNvCxnSpPr/>
          <p:nvPr/>
        </p:nvCxnSpPr>
        <p:spPr>
          <a:xfrm flipH="1" rot="10800000">
            <a:off x="3947325" y="3618525"/>
            <a:ext cx="6660600" cy="1980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106" name="Google Shape;106;p2"/>
          <p:cNvSpPr txBox="1"/>
          <p:nvPr/>
        </p:nvSpPr>
        <p:spPr>
          <a:xfrm>
            <a:off x="740946" y="641142"/>
            <a:ext cx="7932300" cy="659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23"/>
              <a:buFont typeface="Times New Roman"/>
              <a:buNone/>
            </a:pPr>
            <a:r>
              <a:rPr b="0" i="0" lang="en-US" sz="485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Sumário</a:t>
            </a:r>
            <a:endParaRPr b="0" i="0" sz="485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5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5"/>
          <p:cNvSpPr txBox="1"/>
          <p:nvPr>
            <p:ph idx="12" type="sldNum"/>
          </p:nvPr>
        </p:nvSpPr>
        <p:spPr>
          <a:xfrm>
            <a:off x="11520170" y="6356350"/>
            <a:ext cx="4679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5"/>
          <p:cNvSpPr txBox="1"/>
          <p:nvPr/>
        </p:nvSpPr>
        <p:spPr>
          <a:xfrm>
            <a:off x="7520305" y="1551305"/>
            <a:ext cx="3612515" cy="4831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45720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Funciona com furos ligados uns nos outros por dentro, onde existem “caminhos” metálicos para que você faça ligações elétricas temporárias usando fios.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45720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Fios e peças estão conectados uns nos outros se estão na mesma linha vertical.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6" name="Google Shape;11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6370" y="1558925"/>
            <a:ext cx="7353935" cy="482346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5"/>
          <p:cNvSpPr txBox="1"/>
          <p:nvPr/>
        </p:nvSpPr>
        <p:spPr>
          <a:xfrm>
            <a:off x="740946" y="641142"/>
            <a:ext cx="7932300" cy="659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23"/>
              <a:buFont typeface="Times New Roman"/>
              <a:buNone/>
            </a:pPr>
            <a:r>
              <a:rPr lang="en-US" sz="4850">
                <a:latin typeface="Times New Roman"/>
                <a:ea typeface="Times New Roman"/>
                <a:cs typeface="Times New Roman"/>
                <a:sym typeface="Times New Roman"/>
              </a:rPr>
              <a:t>Protoboard: a </a:t>
            </a:r>
            <a:r>
              <a:rPr lang="en-US" sz="4850">
                <a:latin typeface="Times New Roman"/>
                <a:ea typeface="Times New Roman"/>
                <a:cs typeface="Times New Roman"/>
                <a:sym typeface="Times New Roman"/>
              </a:rPr>
              <a:t>placa de ensaio</a:t>
            </a:r>
            <a:endParaRPr b="0" i="0" sz="485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f885b3209d_0_85"/>
          <p:cNvSpPr/>
          <p:nvPr/>
        </p:nvSpPr>
        <p:spPr>
          <a:xfrm>
            <a:off x="0" y="0"/>
            <a:ext cx="12192640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f885b3209d_0_85"/>
          <p:cNvSpPr/>
          <p:nvPr/>
        </p:nvSpPr>
        <p:spPr>
          <a:xfrm>
            <a:off x="0" y="0"/>
            <a:ext cx="11519531" cy="332104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g3f885b3209d_0_85"/>
          <p:cNvSpPr txBox="1"/>
          <p:nvPr/>
        </p:nvSpPr>
        <p:spPr>
          <a:xfrm>
            <a:off x="748645" y="474525"/>
            <a:ext cx="8250600" cy="15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90">
                <a:latin typeface="Times New Roman"/>
                <a:ea typeface="Times New Roman"/>
                <a:cs typeface="Times New Roman"/>
                <a:sym typeface="Times New Roman"/>
              </a:rPr>
              <a:t>Resistores</a:t>
            </a:r>
            <a:endParaRPr sz="489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6" name="Google Shape;126;g3f885b3209d_0_85"/>
          <p:cNvSpPr/>
          <p:nvPr/>
        </p:nvSpPr>
        <p:spPr>
          <a:xfrm>
            <a:off x="596950" y="3974475"/>
            <a:ext cx="2075100" cy="16551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7" name="Google Shape;127;g3f885b3209d_0_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03225" y="1158974"/>
            <a:ext cx="3382549" cy="3382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g3f885b3209d_0_8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6950" y="1158980"/>
            <a:ext cx="7273829" cy="547742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g3f885b3209d_0_85"/>
          <p:cNvSpPr txBox="1"/>
          <p:nvPr/>
        </p:nvSpPr>
        <p:spPr>
          <a:xfrm>
            <a:off x="7942001" y="4264595"/>
            <a:ext cx="3705000" cy="22473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>
                <a:solidFill>
                  <a:srgbClr val="7F4B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r>
            <a:r>
              <a:rPr b="1"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 </a:t>
            </a: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x </a:t>
            </a:r>
            <a:r>
              <a:rPr b="1" lang="en-US" sz="2800">
                <a:solidFill>
                  <a:schemeClr val="accent2"/>
                </a:solidFill>
                <a:highlight>
                  <a:schemeClr val="lt1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1K</a:t>
            </a:r>
            <a:r>
              <a:rPr lang="en-US" sz="2800">
                <a:solidFill>
                  <a:schemeClr val="accent2"/>
                </a:solidFill>
                <a:highlight>
                  <a:schemeClr val="lt1"/>
                </a:highlight>
                <a:latin typeface="Georgia"/>
                <a:ea typeface="Georgia"/>
                <a:cs typeface="Georgia"/>
                <a:sym typeface="Georgia"/>
              </a:rPr>
              <a:t>Ω</a:t>
            </a:r>
            <a:r>
              <a:rPr b="1" lang="en-US" sz="2800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= </a:t>
            </a:r>
            <a:r>
              <a:rPr b="1"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10K</a:t>
            </a:r>
            <a:r>
              <a:rPr b="1" lang="en-US" sz="2800">
                <a:solidFill>
                  <a:srgbClr val="101418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Ω</a:t>
            </a:r>
            <a:r>
              <a:rPr b="1" lang="en-US" sz="2800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b="1" sz="2800">
              <a:solidFill>
                <a:schemeClr val="accen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1" sz="2800">
              <a:solidFill>
                <a:schemeClr val="accent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Resistor de </a:t>
            </a:r>
            <a:r>
              <a:rPr b="1" lang="en-US" sz="2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10K</a:t>
            </a:r>
            <a:r>
              <a:rPr b="1" lang="en-US" sz="2800">
                <a:solidFill>
                  <a:srgbClr val="101418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Ω</a:t>
            </a:r>
            <a:r>
              <a:rPr lang="en-US" sz="2800">
                <a:solidFill>
                  <a:srgbClr val="101418"/>
                </a:solidFill>
                <a:highlight>
                  <a:srgbClr val="FFFFFF"/>
                </a:highlight>
                <a:latin typeface="Georgia"/>
                <a:ea typeface="Georgia"/>
                <a:cs typeface="Georgia"/>
                <a:sym typeface="Georgia"/>
              </a:rPr>
              <a:t> com </a:t>
            </a:r>
            <a:r>
              <a:rPr b="1" lang="en-US" sz="2800">
                <a:solidFill>
                  <a:schemeClr val="dk1"/>
                </a:solidFill>
                <a:highlight>
                  <a:schemeClr val="lt1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±5%</a:t>
            </a:r>
            <a:r>
              <a:rPr b="1" lang="en-US" sz="2800">
                <a:solidFill>
                  <a:schemeClr val="accent4"/>
                </a:solidFill>
                <a:highlight>
                  <a:schemeClr val="lt1"/>
                </a:highlight>
              </a:rPr>
              <a:t> </a:t>
            </a:r>
            <a:r>
              <a:rPr lang="en-US" sz="2800">
                <a:solidFill>
                  <a:schemeClr val="dk1"/>
                </a:solidFill>
                <a:highlight>
                  <a:schemeClr val="lt1"/>
                </a:highlight>
              </a:rPr>
              <a:t>de tolerância (faixa dourada).</a:t>
            </a:r>
            <a:endParaRPr sz="2800">
              <a:solidFill>
                <a:schemeClr val="dk1"/>
              </a:solidFill>
              <a:highlight>
                <a:schemeClr val="lt1"/>
              </a:highlight>
            </a:endParaRPr>
          </a:p>
        </p:txBody>
      </p:sp>
      <p:sp>
        <p:nvSpPr>
          <p:cNvPr id="130" name="Google Shape;130;g3f885b3209d_0_85"/>
          <p:cNvSpPr txBox="1"/>
          <p:nvPr>
            <p:ph idx="12" type="sldNum"/>
          </p:nvPr>
        </p:nvSpPr>
        <p:spPr>
          <a:xfrm>
            <a:off x="11520170" y="6356350"/>
            <a:ext cx="4680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5F6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7"/>
          <p:cNvSpPr txBox="1"/>
          <p:nvPr>
            <p:ph idx="12" type="sldNum"/>
          </p:nvPr>
        </p:nvSpPr>
        <p:spPr>
          <a:xfrm>
            <a:off x="11520170" y="6356350"/>
            <a:ext cx="4679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7"/>
          <p:cNvSpPr txBox="1"/>
          <p:nvPr/>
        </p:nvSpPr>
        <p:spPr>
          <a:xfrm>
            <a:off x="702733" y="1413933"/>
            <a:ext cx="6506100" cy="31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Notebook;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Arduino UNO R3 + Cabo USB A/B.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Protoboard;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 jumpers macho x macho;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 LEDs 5mm - Verde, amarelo e vermelho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 Resistores 330Ω.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40" name="Google Shape;14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06665" y="4373245"/>
            <a:ext cx="1612669" cy="161266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64645" y="4268568"/>
            <a:ext cx="1612669" cy="161266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02354" y="4175750"/>
            <a:ext cx="1241387" cy="161266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jumper wire&quot; Icon - Download for free – Iconduck" id="143" name="Google Shape;143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 rot="2700000">
            <a:off x="6303010" y="4856480"/>
            <a:ext cx="1863090" cy="4832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44390" y="4410075"/>
            <a:ext cx="1535430" cy="153543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Notebook - ícones de computador grátis" id="145" name="Google Shape;145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60425" y="4354195"/>
            <a:ext cx="1655445" cy="16554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2622550" y="4554220"/>
            <a:ext cx="1708150" cy="12522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 rot="-8160000">
            <a:off x="10211965" y="4047169"/>
            <a:ext cx="952500" cy="19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7"/>
          <p:cNvSpPr txBox="1"/>
          <p:nvPr/>
        </p:nvSpPr>
        <p:spPr>
          <a:xfrm>
            <a:off x="740946" y="641142"/>
            <a:ext cx="7932300" cy="659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23"/>
              <a:buFont typeface="Times New Roman"/>
              <a:buNone/>
            </a:pPr>
            <a:r>
              <a:rPr lang="en-US" sz="4850">
                <a:latin typeface="Times New Roman"/>
                <a:ea typeface="Times New Roman"/>
                <a:cs typeface="Times New Roman"/>
                <a:sym typeface="Times New Roman"/>
              </a:rPr>
              <a:t>O semáforo: lista de materiais</a:t>
            </a:r>
            <a:endParaRPr b="0" i="0" sz="485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5F6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8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8"/>
          <p:cNvSpPr txBox="1"/>
          <p:nvPr>
            <p:ph idx="12" type="sldNum"/>
          </p:nvPr>
        </p:nvSpPr>
        <p:spPr>
          <a:xfrm>
            <a:off x="11520170" y="6356350"/>
            <a:ext cx="4679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7" name="Google Shape;157;p8"/>
          <p:cNvPicPr preferRelativeResize="0"/>
          <p:nvPr/>
        </p:nvPicPr>
        <p:blipFill rotWithShape="1">
          <a:blip r:embed="rId3">
            <a:alphaModFix/>
          </a:blip>
          <a:srcRect b="0" l="1891" r="-96" t="0"/>
          <a:stretch/>
        </p:blipFill>
        <p:spPr>
          <a:xfrm>
            <a:off x="0" y="832300"/>
            <a:ext cx="11656625" cy="568915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8"/>
          <p:cNvSpPr txBox="1"/>
          <p:nvPr/>
        </p:nvSpPr>
        <p:spPr>
          <a:xfrm>
            <a:off x="740950" y="641160"/>
            <a:ext cx="7932300" cy="15093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23"/>
              <a:buFont typeface="Times New Roman"/>
              <a:buNone/>
            </a:pPr>
            <a:r>
              <a:rPr lang="en-US" sz="4850">
                <a:latin typeface="Times New Roman"/>
                <a:ea typeface="Times New Roman"/>
                <a:cs typeface="Times New Roman"/>
                <a:sym typeface="Times New Roman"/>
              </a:rPr>
              <a:t>O semáforo:</a:t>
            </a:r>
            <a:endParaRPr sz="485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23"/>
              <a:buFont typeface="Times New Roman"/>
              <a:buNone/>
            </a:pPr>
            <a:r>
              <a:rPr lang="en-US" sz="4850">
                <a:latin typeface="Times New Roman"/>
                <a:ea typeface="Times New Roman"/>
                <a:cs typeface="Times New Roman"/>
                <a:sym typeface="Times New Roman"/>
              </a:rPr>
              <a:t>simulação</a:t>
            </a:r>
            <a:endParaRPr sz="485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9"/>
          <p:cNvSpPr txBox="1"/>
          <p:nvPr>
            <p:ph idx="12" type="sldNum"/>
          </p:nvPr>
        </p:nvSpPr>
        <p:spPr>
          <a:xfrm>
            <a:off x="11520170" y="6356350"/>
            <a:ext cx="467995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9"/>
          <p:cNvSpPr txBox="1"/>
          <p:nvPr/>
        </p:nvSpPr>
        <p:spPr>
          <a:xfrm>
            <a:off x="620395" y="1644015"/>
            <a:ext cx="6807900" cy="39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 u="none" cap="none" strike="noStrike">
                <a:solidFill>
                  <a:srgbClr val="7030A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#define </a:t>
            </a:r>
            <a:r>
              <a:rPr b="1" lang="en-US" sz="280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verde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US" sz="2800" u="none" cap="none" strike="noStrike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r>
            <a:endParaRPr b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 u="none" cap="none" strike="noStrike">
                <a:solidFill>
                  <a:srgbClr val="7030A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#define </a:t>
            </a:r>
            <a:r>
              <a:rPr b="1" lang="en-US" sz="280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vermelho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US" sz="2800" u="none" cap="none" strike="noStrike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r>
            <a:endParaRPr b="1" sz="2800" u="none" cap="none" strike="noStrike">
              <a:solidFill>
                <a:srgbClr val="4561BD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 u="none" cap="none" strike="noStrike">
                <a:solidFill>
                  <a:srgbClr val="7030A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#define </a:t>
            </a:r>
            <a:r>
              <a:rPr b="1" lang="en-US" sz="280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amarelo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US" sz="2800" u="none" cap="none" strike="noStrike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r>
            <a:endParaRPr b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1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 u="none" cap="none" strike="noStrike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void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US" sz="280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setup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() {</a:t>
            </a:r>
            <a:endParaRPr b="1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b="1" lang="en-US" sz="280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pinMode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(vermelho, OUTPUT);</a:t>
            </a:r>
            <a:endParaRPr b="1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b="1" lang="en-US" sz="280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pinMode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(verde, OUTPUT);</a:t>
            </a:r>
            <a:endParaRPr b="1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</a:t>
            </a:r>
            <a:r>
              <a:rPr b="1" lang="en-US" sz="280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pinMode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(amarelo, OUTPUT);</a:t>
            </a:r>
            <a:endParaRPr b="1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}</a:t>
            </a:r>
            <a:endParaRPr b="1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8" name="Google Shape;168;p9"/>
          <p:cNvSpPr txBox="1"/>
          <p:nvPr/>
        </p:nvSpPr>
        <p:spPr>
          <a:xfrm>
            <a:off x="6072822" y="1644015"/>
            <a:ext cx="5681400" cy="52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1" lang="en-US" sz="20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i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lang="en-US" sz="2800" u="none" cap="none" strike="noStrike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void</a:t>
            </a:r>
            <a:r>
              <a:rPr b="1" lang="en-US" sz="280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loop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() {</a:t>
            </a:r>
            <a:endParaRPr b="1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b="1" lang="en-US" sz="280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digitalWrite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(vermelho, HIGH);</a:t>
            </a:r>
            <a:endParaRPr b="1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b="1" lang="en-US" sz="280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delay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b="1" lang="en-US" sz="2800" u="none" cap="none" strike="noStrike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5000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);</a:t>
            </a:r>
            <a:endParaRPr b="1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b="1" lang="en-US" sz="280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digitalWrite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(vermelho, LOW);</a:t>
            </a:r>
            <a:endParaRPr b="1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b="1" lang="en-US" sz="280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digitalWrite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(verde, HIGH);</a:t>
            </a:r>
            <a:endParaRPr b="1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b="1" lang="en-US" sz="280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delay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b="1" lang="en-US" sz="2800" u="none" cap="none" strike="noStrike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3000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);</a:t>
            </a:r>
            <a:endParaRPr b="1" sz="2800" u="none" cap="none" strike="noStrike">
              <a:solidFill>
                <a:srgbClr val="C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b="1" lang="en-US" sz="280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digitalWrite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(verde, LOW);</a:t>
            </a:r>
            <a:endParaRPr b="1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b="1" lang="en-US" sz="280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digitalWrite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(amarelo, HIGH);</a:t>
            </a:r>
            <a:endParaRPr b="1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b="1" lang="en-US" sz="280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delay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b="1" lang="en-US" sz="2800" u="none" cap="none" strike="noStrike">
                <a:solidFill>
                  <a:srgbClr val="4561B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1000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);</a:t>
            </a:r>
            <a:endParaRPr b="1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b="1" lang="en-US" sz="280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digitalWrite</a:t>
            </a: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(amarelo, LOW);</a:t>
            </a:r>
            <a:endParaRPr b="1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}</a:t>
            </a:r>
            <a:endParaRPr b="1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1" i="1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cxnSp>
        <p:nvCxnSpPr>
          <p:cNvPr id="169" name="Google Shape;169;p9"/>
          <p:cNvCxnSpPr/>
          <p:nvPr/>
        </p:nvCxnSpPr>
        <p:spPr>
          <a:xfrm flipH="1" rot="10800000">
            <a:off x="658495" y="1543050"/>
            <a:ext cx="9857105" cy="19050"/>
          </a:xfrm>
          <a:prstGeom prst="straightConnector1">
            <a:avLst/>
          </a:prstGeom>
          <a:noFill/>
          <a:ln cap="flat" cmpd="sng" w="12700">
            <a:solidFill>
              <a:srgbClr val="4561BD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170" name="Google Shape;170;p9"/>
          <p:cNvCxnSpPr/>
          <p:nvPr/>
        </p:nvCxnSpPr>
        <p:spPr>
          <a:xfrm flipH="1" rot="10800000">
            <a:off x="10515600" y="1200150"/>
            <a:ext cx="857250" cy="342900"/>
          </a:xfrm>
          <a:prstGeom prst="straightConnector1">
            <a:avLst/>
          </a:prstGeom>
          <a:noFill/>
          <a:ln cap="flat" cmpd="sng" w="12700">
            <a:solidFill>
              <a:srgbClr val="4561BD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71" name="Google Shape;171;p9"/>
          <p:cNvSpPr txBox="1"/>
          <p:nvPr/>
        </p:nvSpPr>
        <p:spPr>
          <a:xfrm>
            <a:off x="740946" y="641142"/>
            <a:ext cx="7932300" cy="659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23"/>
              <a:buFont typeface="Times New Roman"/>
              <a:buNone/>
            </a:pPr>
            <a:r>
              <a:rPr lang="en-US" sz="4850">
                <a:latin typeface="Times New Roman"/>
                <a:ea typeface="Times New Roman"/>
                <a:cs typeface="Times New Roman"/>
                <a:sym typeface="Times New Roman"/>
              </a:rPr>
              <a:t>O semáforo: código</a:t>
            </a:r>
            <a:endParaRPr b="0" i="0" sz="485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0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0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0"/>
          <p:cNvSpPr txBox="1"/>
          <p:nvPr/>
        </p:nvSpPr>
        <p:spPr>
          <a:xfrm>
            <a:off x="620395" y="1800225"/>
            <a:ext cx="10636250" cy="3538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OLIVEIRA, Marcelo Eduardo de; SOUZA, Matheus Fernando Lima Zuccherelli de; LIBERA, Giovanni Polette Dalla; OLIVEIRA, Renata Lima Zuccherelli de; TECH, Adriano Rogério Bruno.          </a:t>
            </a:r>
            <a:r>
              <a:rPr b="1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Introdução à Robótica Educacional com Arduino – Hands On!: Iniciante</a:t>
            </a:r>
            <a:r>
              <a:rPr b="0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 Pirassununga: Faculdade de Zootecnia e Engenharia de Alimentos da USP, 2020. Disponível em: &lt;https://www.livrosabertos.abcd.usp.br/portaldelivrosUSP/catalog/book/483&gt;. Acesso em: 21 mar. 2025.</a:t>
            </a:r>
            <a:endParaRPr b="0" i="0" sz="2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0" name="Google Shape;180;p10"/>
          <p:cNvSpPr txBox="1"/>
          <p:nvPr/>
        </p:nvSpPr>
        <p:spPr>
          <a:xfrm>
            <a:off x="740946" y="641142"/>
            <a:ext cx="7932300" cy="659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23"/>
              <a:buFont typeface="Times New Roman"/>
              <a:buNone/>
            </a:pPr>
            <a:r>
              <a:rPr lang="en-US" sz="4850">
                <a:latin typeface="Times New Roman"/>
                <a:ea typeface="Times New Roman"/>
                <a:cs typeface="Times New Roman"/>
                <a:sym typeface="Times New Roman"/>
              </a:rPr>
              <a:t>Referência</a:t>
            </a:r>
            <a:endParaRPr b="0" i="0" sz="485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1"/>
          <p:cNvSpPr/>
          <p:nvPr/>
        </p:nvSpPr>
        <p:spPr>
          <a:xfrm>
            <a:off x="0" y="0"/>
            <a:ext cx="121926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F0E6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1"/>
          <p:cNvSpPr/>
          <p:nvPr/>
        </p:nvSpPr>
        <p:spPr>
          <a:xfrm>
            <a:off x="0" y="0"/>
            <a:ext cx="11519535" cy="332105"/>
          </a:xfrm>
          <a:custGeom>
            <a:rect b="b" l="l" r="r" t="t"/>
            <a:pathLst>
              <a:path extrusionOk="0" h="988" w="5727">
                <a:moveTo>
                  <a:pt x="0" y="25"/>
                </a:moveTo>
                <a:lnTo>
                  <a:pt x="12" y="0"/>
                </a:lnTo>
                <a:lnTo>
                  <a:pt x="5727" y="0"/>
                </a:lnTo>
                <a:lnTo>
                  <a:pt x="5255" y="988"/>
                </a:lnTo>
                <a:lnTo>
                  <a:pt x="0" y="988"/>
                </a:lnTo>
                <a:lnTo>
                  <a:pt x="0" y="25"/>
                </a:lnTo>
                <a:close/>
              </a:path>
            </a:pathLst>
          </a:custGeom>
          <a:solidFill>
            <a:srgbClr val="4561B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8" name="Google Shape;188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9140" y="1915160"/>
            <a:ext cx="2335530" cy="30270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1"/>
          <p:cNvPicPr preferRelativeResize="0"/>
          <p:nvPr/>
        </p:nvPicPr>
        <p:blipFill rotWithShape="1">
          <a:blip r:embed="rId4">
            <a:alphaModFix/>
          </a:blip>
          <a:srcRect b="-4340" l="-1229" r="69262" t="-2791"/>
          <a:stretch/>
        </p:blipFill>
        <p:spPr>
          <a:xfrm>
            <a:off x="8963660" y="2051050"/>
            <a:ext cx="1892935" cy="1796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11"/>
          <p:cNvPicPr preferRelativeResize="0"/>
          <p:nvPr/>
        </p:nvPicPr>
        <p:blipFill rotWithShape="1">
          <a:blip r:embed="rId4">
            <a:alphaModFix/>
          </a:blip>
          <a:srcRect b="-5708" l="32768" r="-8782" t="5708"/>
          <a:stretch/>
        </p:blipFill>
        <p:spPr>
          <a:xfrm>
            <a:off x="7987030" y="3698875"/>
            <a:ext cx="3846195" cy="1459865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11"/>
          <p:cNvSpPr txBox="1"/>
          <p:nvPr>
            <p:ph type="ctrTitle"/>
          </p:nvPr>
        </p:nvSpPr>
        <p:spPr>
          <a:xfrm>
            <a:off x="3167380" y="1545590"/>
            <a:ext cx="5185410" cy="280733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sz="4400">
                <a:latin typeface="Times New Roman"/>
                <a:ea typeface="Times New Roman"/>
                <a:cs typeface="Times New Roman"/>
                <a:sym typeface="Times New Roman"/>
              </a:rPr>
              <a:t>Agradecemos pela atenção!</a:t>
            </a:r>
            <a:endParaRPr sz="44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2025-03-28T17:09:00Z</dcterms:created>
  <dc:creator>Isaque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1046-12.2.0.20795</vt:lpwstr>
  </property>
  <property fmtid="{D5CDD505-2E9C-101B-9397-08002B2CF9AE}" pid="3" name="ICV">
    <vt:lpwstr>8B3BF31CB6E447E383E22A3FF0C87609_13</vt:lpwstr>
  </property>
</Properties>
</file>