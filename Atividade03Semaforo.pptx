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7103725" cy="102342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370">
          <p15:clr>
            <a:srgbClr val="A4A3A4"/>
          </p15:clr>
        </p15:guide>
        <p15:guide id="2" pos="3892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gYtLmTt3IU3HPpOKb5guYXpyryb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370" orient="horz"/>
        <p:guide pos="38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4313" y="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850"/>
            <a:ext cx="3078163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icrosoft Yahei"/>
                <a:ea typeface="Microsoft Yahei"/>
                <a:cs typeface="Microsoft Yahei"/>
                <a:sym typeface="Microsoft Yahe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icrosoft Yahei"/>
              <a:ea typeface="Microsoft Yahei"/>
              <a:cs typeface="Microsoft Yahei"/>
              <a:sym typeface="Microsoft Yahe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1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482600" y="1279525"/>
            <a:ext cx="6140450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11:notes"/>
          <p:cNvSpPr txBox="1"/>
          <p:nvPr>
            <p:ph idx="1" type="body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p11:notes"/>
          <p:cNvSpPr txBox="1"/>
          <p:nvPr>
            <p:ph idx="12" type="sldNum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1524000" y="1322962"/>
            <a:ext cx="9144000" cy="21870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1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831850" y="3750945"/>
            <a:ext cx="9843135" cy="8115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831850" y="4610028"/>
            <a:ext cx="7321550" cy="6475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1800"/>
              <a:buChar char="•"/>
              <a:defRPr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59817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  <a:defRPr b="0" i="0" sz="2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400"/>
              <a:buChar char="•"/>
              <a:defRPr sz="2400">
                <a:solidFill>
                  <a:srgbClr val="3F3F3F"/>
                </a:solidFill>
              </a:defRPr>
            </a:lvl2pPr>
            <a:lvl3pPr indent="-3556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3pPr>
            <a:lvl4pPr indent="-3556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4pPr>
            <a:lvl5pPr indent="-3556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000"/>
              <a:buChar char="•"/>
              <a:defRPr sz="2000">
                <a:solidFill>
                  <a:srgbClr val="3F3F3F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839788" y="174496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839788" y="2615609"/>
            <a:ext cx="5157787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6172200" y="1744961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6172200" y="2615609"/>
            <a:ext cx="5183188" cy="35740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838200" y="276621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646747" y="127000"/>
            <a:ext cx="41652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sz="32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/>
          <p:nvPr>
            <p:ph idx="2" type="pic"/>
          </p:nvPr>
        </p:nvSpPr>
        <p:spPr>
          <a:xfrm>
            <a:off x="5184000" y="766354"/>
            <a:ext cx="5817375" cy="5094446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0"/>
          <p:cNvSpPr txBox="1"/>
          <p:nvPr>
            <p:ph idx="1" type="body"/>
          </p:nvPr>
        </p:nvSpPr>
        <p:spPr>
          <a:xfrm>
            <a:off x="651827" y="2057400"/>
            <a:ext cx="4165200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 rot="5400000">
            <a:off x="7683223" y="2506386"/>
            <a:ext cx="5811838" cy="15293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" type="body"/>
          </p:nvPr>
        </p:nvSpPr>
        <p:spPr>
          <a:xfrm rot="5400000">
            <a:off x="2372260" y="-1168935"/>
            <a:ext cx="5811838" cy="88799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">
  <p:cSld name="Conten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22"/>
          <p:cNvSpPr txBox="1"/>
          <p:nvPr>
            <p:ph idx="1" type="body"/>
          </p:nvPr>
        </p:nvSpPr>
        <p:spPr>
          <a:xfrm>
            <a:off x="838200" y="551543"/>
            <a:ext cx="10515600" cy="5558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0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10" Type="http://schemas.openxmlformats.org/officeDocument/2006/relationships/image" Target="../media/image1.png"/><Relationship Id="rId9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"/>
          <p:cNvSpPr txBox="1"/>
          <p:nvPr>
            <p:ph type="ctrTitle"/>
          </p:nvPr>
        </p:nvSpPr>
        <p:spPr>
          <a:xfrm>
            <a:off x="2362200" y="563245"/>
            <a:ext cx="7467600" cy="102997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sz="3110">
                <a:latin typeface="Times New Roman"/>
                <a:ea typeface="Times New Roman"/>
                <a:cs typeface="Times New Roman"/>
                <a:sym typeface="Times New Roman"/>
              </a:rPr>
              <a:t>Universidade Estadual de Santa Cruz</a:t>
            </a:r>
            <a:br>
              <a:rPr lang="en-US" sz="311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110">
                <a:latin typeface="Times New Roman"/>
                <a:ea typeface="Times New Roman"/>
                <a:cs typeface="Times New Roman"/>
                <a:sym typeface="Times New Roman"/>
              </a:rPr>
              <a:t>Ciência da Computação</a:t>
            </a:r>
            <a:endParaRPr sz="311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"/>
          <p:cNvSpPr txBox="1"/>
          <p:nvPr>
            <p:ph idx="1" type="subTitle"/>
          </p:nvPr>
        </p:nvSpPr>
        <p:spPr>
          <a:xfrm>
            <a:off x="2113286" y="2169150"/>
            <a:ext cx="7952400" cy="27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Projeto de ensino</a:t>
            </a:r>
            <a:r>
              <a:rPr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Atividades</a:t>
            </a:r>
            <a:r>
              <a:rPr b="1"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Maker para Alunos do Ensino Médio</a:t>
            </a:r>
            <a:b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Atividade 3 - Sem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áforo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Autor: Isaque Silva Passos Ribeiro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Colaborador: Gabriel Lucas de Oliveira César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3" name="Google Shape;8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95025" y="500507"/>
            <a:ext cx="842772" cy="10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"/>
          <p:cNvPicPr preferRelativeResize="0"/>
          <p:nvPr/>
        </p:nvPicPr>
        <p:blipFill rotWithShape="1">
          <a:blip r:embed="rId4">
            <a:alphaModFix/>
          </a:blip>
          <a:srcRect b="0" l="0" r="61296" t="0"/>
          <a:stretch/>
        </p:blipFill>
        <p:spPr>
          <a:xfrm>
            <a:off x="563245" y="553720"/>
            <a:ext cx="10224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939925" y="2573656"/>
            <a:ext cx="2334895" cy="353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Title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463675" y="2574291"/>
            <a:ext cx="452755" cy="352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-5708" l="32768" r="-8782" t="5708"/>
          <a:stretch/>
        </p:blipFill>
        <p:spPr>
          <a:xfrm>
            <a:off x="76200" y="1315720"/>
            <a:ext cx="1808480" cy="68643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5271770" y="5972810"/>
            <a:ext cx="1647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Bahia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202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-127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620395" y="1800225"/>
            <a:ext cx="110007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Protoboard: A placa de ensaio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 resistores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Semáforo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Lista dos materiais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simulação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 código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0565775" y="1700784"/>
            <a:ext cx="468000" cy="40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1" name="Google Shape;101;p2"/>
          <p:cNvCxnSpPr/>
          <p:nvPr/>
        </p:nvCxnSpPr>
        <p:spPr>
          <a:xfrm flipH="1" rot="10800000">
            <a:off x="5955800" y="2208200"/>
            <a:ext cx="4627500" cy="1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2" name="Google Shape;102;p2"/>
          <p:cNvCxnSpPr/>
          <p:nvPr/>
        </p:nvCxnSpPr>
        <p:spPr>
          <a:xfrm flipH="1" rot="10800000">
            <a:off x="3231500" y="2677300"/>
            <a:ext cx="7351800" cy="15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3" name="Google Shape;103;p2"/>
          <p:cNvCxnSpPr/>
          <p:nvPr/>
        </p:nvCxnSpPr>
        <p:spPr>
          <a:xfrm>
            <a:off x="2547125" y="4471500"/>
            <a:ext cx="8038800" cy="4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4" name="Google Shape;104;p2"/>
          <p:cNvCxnSpPr/>
          <p:nvPr/>
        </p:nvCxnSpPr>
        <p:spPr>
          <a:xfrm>
            <a:off x="2994975" y="4086700"/>
            <a:ext cx="7601100" cy="3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cxnSp>
        <p:nvCxnSpPr>
          <p:cNvPr id="105" name="Google Shape;105;p2"/>
          <p:cNvCxnSpPr/>
          <p:nvPr/>
        </p:nvCxnSpPr>
        <p:spPr>
          <a:xfrm flipH="1" rot="10800000">
            <a:off x="3947325" y="3618525"/>
            <a:ext cx="6660600" cy="19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06" name="Google Shape;106;p2"/>
          <p:cNvSpPr txBox="1"/>
          <p:nvPr/>
        </p:nvSpPr>
        <p:spPr>
          <a:xfrm>
            <a:off x="740946" y="641142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b="0" i="0" lang="en-US" sz="48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Sumário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5"/>
          <p:cNvSpPr txBox="1"/>
          <p:nvPr/>
        </p:nvSpPr>
        <p:spPr>
          <a:xfrm>
            <a:off x="7520305" y="1551305"/>
            <a:ext cx="3612515" cy="4831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Funciona com furos ligados uns nos outros por dentro, onde existem “caminhos” metálicos para que você faça ligações elétricas temporárias usando fios.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Fios e peças estão conectados uns nos outros se estão na mesma linha vertical.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370" y="1558925"/>
            <a:ext cx="7353935" cy="48234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740946" y="641142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en-US" sz="4850">
                <a:latin typeface="Times New Roman"/>
                <a:ea typeface="Times New Roman"/>
                <a:cs typeface="Times New Roman"/>
                <a:sym typeface="Times New Roman"/>
              </a:rPr>
              <a:t>Protoboard: a </a:t>
            </a:r>
            <a:r>
              <a:rPr lang="en-US" sz="4850">
                <a:latin typeface="Times New Roman"/>
                <a:ea typeface="Times New Roman"/>
                <a:cs typeface="Times New Roman"/>
                <a:sym typeface="Times New Roman"/>
              </a:rPr>
              <a:t>placa de ensaio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6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8100000">
            <a:off x="9820275" y="4014470"/>
            <a:ext cx="1668780" cy="333756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 txBox="1"/>
          <p:nvPr/>
        </p:nvSpPr>
        <p:spPr>
          <a:xfrm>
            <a:off x="6966585" y="1800860"/>
            <a:ext cx="5365115" cy="2676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4572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 ordem: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Primeira faixa: Digito 1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Segunda faixa: Digito 2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Terceira faixa: Multiplicador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Faixa fina: Margem de erro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7613650" y="5089525"/>
            <a:ext cx="720000" cy="720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8460740" y="5089525"/>
            <a:ext cx="720000" cy="720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14158"/>
            <a:ext cx="6915150" cy="520731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/>
          <p:nvPr/>
        </p:nvSpPr>
        <p:spPr>
          <a:xfrm>
            <a:off x="7621905" y="5946775"/>
            <a:ext cx="720000" cy="720000"/>
          </a:xfrm>
          <a:prstGeom prst="rect">
            <a:avLst/>
          </a:prstGeom>
          <a:solidFill>
            <a:srgbClr val="833C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468995" y="5946775"/>
            <a:ext cx="720000" cy="720000"/>
          </a:xfrm>
          <a:prstGeom prst="rect">
            <a:avLst/>
          </a:prstGeom>
          <a:solidFill>
            <a:srgbClr val="D4B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740946" y="641142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en-US" sz="4850">
                <a:latin typeface="Times New Roman"/>
                <a:ea typeface="Times New Roman"/>
                <a:cs typeface="Times New Roman"/>
                <a:sym typeface="Times New Roman"/>
              </a:rPr>
              <a:t>Os resistores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6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702733" y="1413933"/>
            <a:ext cx="6506100" cy="3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Notebook;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UNO R3 + Cabo USB A/B.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Protoboard;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 jumpers macho x macho;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LEDs 5mm - Verde, amarelo e vermelho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Resistores 330Ω.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6665" y="4373245"/>
            <a:ext cx="1612669" cy="1612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4645" y="4268568"/>
            <a:ext cx="1612669" cy="1612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02354" y="4175750"/>
            <a:ext cx="1241387" cy="1612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mper wire&quot; Icon - Download for free – Iconduck" id="146" name="Google Shape;14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2700000">
            <a:off x="6303010" y="4856480"/>
            <a:ext cx="1863090" cy="483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4390" y="4410075"/>
            <a:ext cx="1535430" cy="1535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otebook - ícones de computador grátis" id="148" name="Google Shape;14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0425" y="4354195"/>
            <a:ext cx="1655445" cy="1655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622550" y="4554220"/>
            <a:ext cx="1708150" cy="1252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 rot="-8160000">
            <a:off x="10211965" y="4047169"/>
            <a:ext cx="9525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 txBox="1"/>
          <p:nvPr/>
        </p:nvSpPr>
        <p:spPr>
          <a:xfrm>
            <a:off x="740946" y="641142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en-US" sz="4850">
                <a:latin typeface="Times New Roman"/>
                <a:ea typeface="Times New Roman"/>
                <a:cs typeface="Times New Roman"/>
                <a:sym typeface="Times New Roman"/>
              </a:rPr>
              <a:t>O semáforo: lista de materiais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6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1891" r="-96" t="0"/>
          <a:stretch/>
        </p:blipFill>
        <p:spPr>
          <a:xfrm>
            <a:off x="0" y="832300"/>
            <a:ext cx="11656625" cy="568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 txBox="1"/>
          <p:nvPr/>
        </p:nvSpPr>
        <p:spPr>
          <a:xfrm>
            <a:off x="740950" y="641160"/>
            <a:ext cx="7932300" cy="150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en-US" sz="4850">
                <a:latin typeface="Times New Roman"/>
                <a:ea typeface="Times New Roman"/>
                <a:cs typeface="Times New Roman"/>
                <a:sym typeface="Times New Roman"/>
              </a:rPr>
              <a:t>O semáforo:</a:t>
            </a:r>
            <a:endParaRPr sz="4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en-US" sz="4850">
                <a:latin typeface="Times New Roman"/>
                <a:ea typeface="Times New Roman"/>
                <a:cs typeface="Times New Roman"/>
                <a:sym typeface="Times New Roman"/>
              </a:rPr>
              <a:t>simulação</a:t>
            </a:r>
            <a:endParaRPr sz="4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 txBox="1"/>
          <p:nvPr>
            <p:ph idx="12" type="sldNum"/>
          </p:nvPr>
        </p:nvSpPr>
        <p:spPr>
          <a:xfrm>
            <a:off x="11520170" y="6356350"/>
            <a:ext cx="4679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620395" y="1644015"/>
            <a:ext cx="6807900" cy="3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#define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verde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 u="none" cap="none" strike="noStrike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#define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vermelho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 u="none" cap="none" strike="noStrike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 sz="2800" u="none" cap="none" strike="noStrike">
              <a:solidFill>
                <a:srgbClr val="456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#define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amarelo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 u="none" cap="none" strike="noStrike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{</a:t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pinMode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(vermelho, OUTPUT);</a:t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pinMode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(verde, OUTPUT);</a:t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pinMode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(amarelo, OUTPUT);</a:t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}</a:t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6072822" y="1644015"/>
            <a:ext cx="56814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00" u="none" cap="none" strike="noStrike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void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loop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() {</a:t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digitalWrite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(vermelho, HIGH);</a:t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2800" u="none" cap="none" strike="noStrike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5000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digitalWrite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(vermelho, LOW);</a:t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digitalWrite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(verde, HIGH);</a:t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2800" u="none" cap="none" strike="noStrike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3000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b="1" sz="2800" u="none" cap="none" strike="noStrik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digitalWrite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(verde, LOW);</a:t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digitalWrite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(amarelo, HIGH);</a:t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delay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2800" u="none" cap="none" strike="noStrike">
                <a:solidFill>
                  <a:srgbClr val="456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1000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);</a:t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r>
              <a:rPr b="1" lang="en-US" sz="2800" u="none" cap="none" strike="noStrik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digitalWrite</a:t>
            </a: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(amarelo, LOW);</a:t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}</a:t>
            </a:r>
            <a:endParaRPr b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1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2" name="Google Shape;172;p9"/>
          <p:cNvCxnSpPr/>
          <p:nvPr/>
        </p:nvCxnSpPr>
        <p:spPr>
          <a:xfrm flipH="1" rot="10800000">
            <a:off x="658495" y="1543050"/>
            <a:ext cx="9857105" cy="19050"/>
          </a:xfrm>
          <a:prstGeom prst="straightConnector1">
            <a:avLst/>
          </a:prstGeom>
          <a:noFill/>
          <a:ln cap="flat" cmpd="sng" w="12700">
            <a:solidFill>
              <a:srgbClr val="4561BD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3" name="Google Shape;173;p9"/>
          <p:cNvCxnSpPr/>
          <p:nvPr/>
        </p:nvCxnSpPr>
        <p:spPr>
          <a:xfrm flipH="1" rot="10800000">
            <a:off x="10515600" y="1200150"/>
            <a:ext cx="857250" cy="342900"/>
          </a:xfrm>
          <a:prstGeom prst="straightConnector1">
            <a:avLst/>
          </a:prstGeom>
          <a:noFill/>
          <a:ln cap="flat" cmpd="sng" w="12700">
            <a:solidFill>
              <a:srgbClr val="4561BD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4" name="Google Shape;174;p9"/>
          <p:cNvSpPr txBox="1"/>
          <p:nvPr/>
        </p:nvSpPr>
        <p:spPr>
          <a:xfrm>
            <a:off x="740946" y="641142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en-US" sz="4850">
                <a:latin typeface="Times New Roman"/>
                <a:ea typeface="Times New Roman"/>
                <a:cs typeface="Times New Roman"/>
                <a:sym typeface="Times New Roman"/>
              </a:rPr>
              <a:t>O semáforo: código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 txBox="1"/>
          <p:nvPr/>
        </p:nvSpPr>
        <p:spPr>
          <a:xfrm>
            <a:off x="620395" y="1800225"/>
            <a:ext cx="10636250" cy="3538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OLIVEIRA, Marcelo Eduardo de; SOUZA, Matheus Fernando Lima Zuccherelli de; LIBERA, Giovanni Polette Dalla; OLIVEIRA, Renata Lima Zuccherelli de; TECH, Adriano Rogério Bruno.          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Introdução à Robótica Educacional com Arduino – Hands On!: Iniciante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Pirassununga: Faculdade de Zootecnia e Engenharia de Alimentos da USP, 2020. Disponível em: &lt;https://www.livrosabertos.abcd.usp.br/portaldelivrosUSP/catalog/book/483&gt;. Acesso em: 21 mar. 2025.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0"/>
          <p:cNvSpPr txBox="1"/>
          <p:nvPr/>
        </p:nvSpPr>
        <p:spPr>
          <a:xfrm>
            <a:off x="740946" y="641142"/>
            <a:ext cx="79323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23"/>
              <a:buFont typeface="Times New Roman"/>
              <a:buNone/>
            </a:pPr>
            <a:r>
              <a:rPr lang="en-US" sz="4850">
                <a:latin typeface="Times New Roman"/>
                <a:ea typeface="Times New Roman"/>
                <a:cs typeface="Times New Roman"/>
                <a:sym typeface="Times New Roman"/>
              </a:rPr>
              <a:t>Referência</a:t>
            </a:r>
            <a:endParaRPr b="0" i="0" sz="48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1"/>
          <p:cNvSpPr/>
          <p:nvPr/>
        </p:nvSpPr>
        <p:spPr>
          <a:xfrm>
            <a:off x="0" y="0"/>
            <a:ext cx="121926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F0E6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0" y="0"/>
            <a:ext cx="11519535" cy="332105"/>
          </a:xfrm>
          <a:custGeom>
            <a:rect b="b" l="l" r="r" t="t"/>
            <a:pathLst>
              <a:path extrusionOk="0" h="988" w="5727">
                <a:moveTo>
                  <a:pt x="0" y="25"/>
                </a:moveTo>
                <a:lnTo>
                  <a:pt x="12" y="0"/>
                </a:lnTo>
                <a:lnTo>
                  <a:pt x="5727" y="0"/>
                </a:lnTo>
                <a:lnTo>
                  <a:pt x="5255" y="988"/>
                </a:lnTo>
                <a:lnTo>
                  <a:pt x="0" y="988"/>
                </a:lnTo>
                <a:lnTo>
                  <a:pt x="0" y="25"/>
                </a:lnTo>
                <a:close/>
              </a:path>
            </a:pathLst>
          </a:custGeom>
          <a:solidFill>
            <a:srgbClr val="4561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9140" y="1915160"/>
            <a:ext cx="2335530" cy="3027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1"/>
          <p:cNvPicPr preferRelativeResize="0"/>
          <p:nvPr/>
        </p:nvPicPr>
        <p:blipFill rotWithShape="1">
          <a:blip r:embed="rId4">
            <a:alphaModFix/>
          </a:blip>
          <a:srcRect b="-4340" l="-1229" r="69262" t="-2791"/>
          <a:stretch/>
        </p:blipFill>
        <p:spPr>
          <a:xfrm>
            <a:off x="8963660" y="2051050"/>
            <a:ext cx="1892935" cy="1796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1"/>
          <p:cNvPicPr preferRelativeResize="0"/>
          <p:nvPr/>
        </p:nvPicPr>
        <p:blipFill rotWithShape="1">
          <a:blip r:embed="rId4">
            <a:alphaModFix/>
          </a:blip>
          <a:srcRect b="-5708" l="32768" r="-8782" t="5708"/>
          <a:stretch/>
        </p:blipFill>
        <p:spPr>
          <a:xfrm>
            <a:off x="7987030" y="3698875"/>
            <a:ext cx="3846195" cy="145986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 txBox="1"/>
          <p:nvPr>
            <p:ph type="ctrTitle"/>
          </p:nvPr>
        </p:nvSpPr>
        <p:spPr>
          <a:xfrm>
            <a:off x="3167380" y="1545590"/>
            <a:ext cx="5185410" cy="28073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Agradecemos pela atenção!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2025-03-28T17:09:00Z</dcterms:created>
  <dc:creator>Isaque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1046-12.2.0.20795</vt:lpwstr>
  </property>
  <property fmtid="{D5CDD505-2E9C-101B-9397-08002B2CF9AE}" pid="3" name="ICV">
    <vt:lpwstr>8B3BF31CB6E447E383E22A3FF0C87609_13</vt:lpwstr>
  </property>
</Properties>
</file>