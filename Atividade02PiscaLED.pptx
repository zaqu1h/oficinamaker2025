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70">
          <p15:clr>
            <a:srgbClr val="000000"/>
          </p15:clr>
        </p15:guide>
        <p15:guide id="2" pos="3892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0ADD2CvkdoJP9KdI6uUz8NiOk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70" orient="horz"/>
        <p:guide pos="38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84b7cbc1f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c84b7cbc1f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g3c84b7cbc1f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5945f65e_0_43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75945f65e_0_43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75945f65e_0_43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5945f65e_0_25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75945f65e_0_25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f75945f65e_0_25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75945f65e_0_26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f75945f65e_0_26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f75945f65e_0_26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75a8d7366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75a8d7366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f75a8d7366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5945f65e_0_0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75945f65e_0_0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f75945f65e_0_0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75945f65e_0_345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75945f65e_0_345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f75945f65e_0_345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75945f65e_0_77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f75945f65e_0_77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f75945f65e_0_77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75945f65e_0_89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75945f65e_0_89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f75945f65e_0_89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a36f7e4b3_0_215:notes"/>
          <p:cNvSpPr/>
          <p:nvPr>
            <p:ph idx="2" type="sldImg"/>
          </p:nvPr>
        </p:nvSpPr>
        <p:spPr>
          <a:xfrm>
            <a:off x="142875" y="768350"/>
            <a:ext cx="681831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4a36f7e4b3_0_215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a36f7e4b3_0_277:notes"/>
          <p:cNvSpPr/>
          <p:nvPr>
            <p:ph idx="2" type="sldImg"/>
          </p:nvPr>
        </p:nvSpPr>
        <p:spPr>
          <a:xfrm>
            <a:off x="142875" y="768350"/>
            <a:ext cx="681831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4a36f7e4b3_0_27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4a36f7e4b3_0_9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4a36f7e4b3_0_9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g34a36f7e4b3_0_9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0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22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4b7cbc1f_0_0"/>
          <p:cNvSpPr txBox="1"/>
          <p:nvPr/>
        </p:nvSpPr>
        <p:spPr>
          <a:xfrm>
            <a:off x="753825" y="500500"/>
            <a:ext cx="106713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 de Iniciação à Docência - PID, Edital N° 54/2025</a:t>
            </a:r>
            <a:b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g3c84b7cbc1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c84b7cbc1f_0_0"/>
          <p:cNvSpPr txBox="1"/>
          <p:nvPr/>
        </p:nvSpPr>
        <p:spPr>
          <a:xfrm>
            <a:off x="5271770" y="5972810"/>
            <a:ext cx="16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c84b7cbc1f_0_0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c84b7cbc1f_0_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c84b7cbc1f_0_0"/>
          <p:cNvSpPr/>
          <p:nvPr/>
        </p:nvSpPr>
        <p:spPr>
          <a:xfrm>
            <a:off x="1463675" y="2574291"/>
            <a:ext cx="45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3c84b7cbc1f_0_0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c84b7cbc1f_0_0"/>
          <p:cNvPicPr preferRelativeResize="0"/>
          <p:nvPr/>
        </p:nvPicPr>
        <p:blipFill rotWithShape="1">
          <a:blip r:embed="rId4">
            <a:alphaModFix/>
          </a:blip>
          <a:srcRect b="-5710" l="32771" r="-8788" t="5710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c84b7cbc1f_0_0"/>
          <p:cNvSpPr txBox="1"/>
          <p:nvPr/>
        </p:nvSpPr>
        <p:spPr>
          <a:xfrm>
            <a:off x="2113275" y="2302650"/>
            <a:ext cx="79524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en-US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Maker para Alunos do Ensino Médio</a:t>
            </a:r>
            <a:b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Atividade 2 - Pisca LED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g3c84b7cbc1f_0_0"/>
          <p:cNvSpPr txBox="1"/>
          <p:nvPr/>
        </p:nvSpPr>
        <p:spPr>
          <a:xfrm>
            <a:off x="1540225" y="4421850"/>
            <a:ext cx="911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Autor: Isaque Silva Passos Ribeiro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Colaborador(es): Olinoedson Silva Sena e Rodrigo Almeida Pirôpo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5945f65e_0_430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75945f65e_0_43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75945f65e_0_430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75945f65e_0_43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75945f65e_0_430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3"/>
              <a:buFont typeface="Times New Roman"/>
              <a:buNone/>
            </a:pPr>
            <a:r>
              <a:rPr b="0" i="0" lang="en-US" sz="48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48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f75945f65e_0_430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75945f65e_0_430"/>
          <p:cNvSpPr txBox="1"/>
          <p:nvPr/>
        </p:nvSpPr>
        <p:spPr>
          <a:xfrm>
            <a:off x="620395" y="1701148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 Arduino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Protoboard: A placa de ensaio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esistores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e LEDs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 pisca LED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g3f75945f65e_0_430"/>
          <p:cNvCxnSpPr/>
          <p:nvPr/>
        </p:nvCxnSpPr>
        <p:spPr>
          <a:xfrm flipH="1">
            <a:off x="4049850" y="3083073"/>
            <a:ext cx="6283200" cy="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8" name="Google Shape;108;g3f75945f65e_0_430"/>
          <p:cNvCxnSpPr/>
          <p:nvPr/>
        </p:nvCxnSpPr>
        <p:spPr>
          <a:xfrm>
            <a:off x="2825125" y="2130187"/>
            <a:ext cx="7541700" cy="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" name="Google Shape;109;g3f75945f65e_0_430"/>
          <p:cNvCxnSpPr/>
          <p:nvPr/>
        </p:nvCxnSpPr>
        <p:spPr>
          <a:xfrm>
            <a:off x="3233350" y="3578518"/>
            <a:ext cx="71340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0" name="Google Shape;110;g3f75945f65e_0_430"/>
          <p:cNvCxnSpPr/>
          <p:nvPr/>
        </p:nvCxnSpPr>
        <p:spPr>
          <a:xfrm>
            <a:off x="5954850" y="2596533"/>
            <a:ext cx="43782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11" name="Google Shape;111;g3f75945f65e_0_430"/>
          <p:cNvSpPr txBox="1"/>
          <p:nvPr/>
        </p:nvSpPr>
        <p:spPr>
          <a:xfrm>
            <a:off x="10367065" y="1707194"/>
            <a:ext cx="6393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5945f65e_0_25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75945f65e_0_25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75945f65e_0_255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75945f65e_0_255"/>
          <p:cNvSpPr txBox="1"/>
          <p:nvPr/>
        </p:nvSpPr>
        <p:spPr>
          <a:xfrm>
            <a:off x="748650" y="1603417"/>
            <a:ext cx="58539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é uma placa eletrônica composta por um microcontrolador, saídas digitais e analógicas, e uma interface de comunicação (USB) para enviar e receb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dados.</a:t>
            </a:r>
            <a:endParaRPr b="0" i="0" sz="2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Além disso, ele também é uma plataforma de código aberto, possuindo um ambiente de desenvolvimento integrado (IDE) para escrever seus programas e enviá-los à placa.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g3f75945f65e_0_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764" y="1389576"/>
            <a:ext cx="4627226" cy="408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75945f65e_0_255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Arduino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75945f65e_0_26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75945f65e_0_26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75945f65e_0_265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75945f65e_0_265"/>
          <p:cNvSpPr txBox="1"/>
          <p:nvPr/>
        </p:nvSpPr>
        <p:spPr>
          <a:xfrm>
            <a:off x="748652" y="1593909"/>
            <a:ext cx="69789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 análogo a um “cérebro” que controla coisas no mundo real, como luzes, motores e sensores.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Você programa (via computador) o que ele deve fazer;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Ex.: 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"Acenda o LED quando o botão for pressionado"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 executa o comando, ligando/desligando seus pinos elétricos.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f75945f65e_0_2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764" y="1389576"/>
            <a:ext cx="4627226" cy="408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75945f65e_0_265"/>
          <p:cNvSpPr txBox="1"/>
          <p:nvPr/>
        </p:nvSpPr>
        <p:spPr>
          <a:xfrm>
            <a:off x="748645" y="474525"/>
            <a:ext cx="825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Arduino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75a8d7366_0_0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75a8d7366_0_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75a8d7366_0_0"/>
          <p:cNvSpPr txBox="1"/>
          <p:nvPr/>
        </p:nvSpPr>
        <p:spPr>
          <a:xfrm>
            <a:off x="6630675" y="883594"/>
            <a:ext cx="50982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Pinos Digitais (0 a 13):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Entrada ou saída de sinais digitais (ex: sensores, LEDs). Alguns suportam PWM* (~);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Pinos Analógicos (A0 a A5)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Leitura de sinais variáveis (0 a 5V), como sensores analógicos;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Alimentação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 USB: Usada para programar a placa e fornecer energia.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g3f75a8d736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118" y="1208164"/>
            <a:ext cx="6054453" cy="44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75a8d7366_0_0"/>
          <p:cNvSpPr txBox="1"/>
          <p:nvPr/>
        </p:nvSpPr>
        <p:spPr>
          <a:xfrm>
            <a:off x="224125" y="5932475"/>
            <a:ext cx="1129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PWM (Pulse Width Modulation)*: 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Técnica eletrônica que controla a quantidade de energia enviada a um dispositivo, variando a largura dos pulsos de um sinal digital (liga/desliga) em alta frequência, permitindo regular fatores com mais precisão.</a:t>
            </a:r>
            <a:endParaRPr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4" name="Google Shape;144;g3f75a8d7366_0_0"/>
          <p:cNvCxnSpPr/>
          <p:nvPr/>
        </p:nvCxnSpPr>
        <p:spPr>
          <a:xfrm rot="10800000">
            <a:off x="6479450" y="3025525"/>
            <a:ext cx="13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g3f75a8d7366_0_0"/>
          <p:cNvCxnSpPr/>
          <p:nvPr/>
        </p:nvCxnSpPr>
        <p:spPr>
          <a:xfrm>
            <a:off x="6479544" y="3025519"/>
            <a:ext cx="17100" cy="276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g3f75a8d7366_0_0"/>
          <p:cNvCxnSpPr/>
          <p:nvPr/>
        </p:nvCxnSpPr>
        <p:spPr>
          <a:xfrm>
            <a:off x="4655675" y="5517925"/>
            <a:ext cx="0" cy="11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g3f75a8d7366_0_0"/>
          <p:cNvCxnSpPr/>
          <p:nvPr/>
        </p:nvCxnSpPr>
        <p:spPr>
          <a:xfrm>
            <a:off x="5760575" y="5515866"/>
            <a:ext cx="0" cy="11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g3f75a8d7366_0_0"/>
          <p:cNvCxnSpPr/>
          <p:nvPr/>
        </p:nvCxnSpPr>
        <p:spPr>
          <a:xfrm>
            <a:off x="4655675" y="5631050"/>
            <a:ext cx="110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g3f75a8d7366_0_0"/>
          <p:cNvCxnSpPr/>
          <p:nvPr/>
        </p:nvCxnSpPr>
        <p:spPr>
          <a:xfrm>
            <a:off x="5204852" y="5631055"/>
            <a:ext cx="900" cy="1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g3f75a8d7366_0_0"/>
          <p:cNvCxnSpPr/>
          <p:nvPr/>
        </p:nvCxnSpPr>
        <p:spPr>
          <a:xfrm flipH="1">
            <a:off x="5202318" y="5785493"/>
            <a:ext cx="1289700" cy="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g3f75a8d7366_0_0"/>
          <p:cNvCxnSpPr/>
          <p:nvPr/>
        </p:nvCxnSpPr>
        <p:spPr>
          <a:xfrm rot="10800000">
            <a:off x="3011350" y="1248117"/>
            <a:ext cx="1200" cy="10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g3f75a8d7366_0_0"/>
          <p:cNvCxnSpPr/>
          <p:nvPr/>
        </p:nvCxnSpPr>
        <p:spPr>
          <a:xfrm rot="10800000">
            <a:off x="5815033" y="1254001"/>
            <a:ext cx="0" cy="11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g3f75a8d7366_0_0"/>
          <p:cNvCxnSpPr/>
          <p:nvPr/>
        </p:nvCxnSpPr>
        <p:spPr>
          <a:xfrm>
            <a:off x="3012550" y="1250430"/>
            <a:ext cx="280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g3f75a8d7366_0_0"/>
          <p:cNvCxnSpPr/>
          <p:nvPr/>
        </p:nvCxnSpPr>
        <p:spPr>
          <a:xfrm rot="10800000">
            <a:off x="4404591" y="1140925"/>
            <a:ext cx="900" cy="10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g3f75a8d7366_0_0"/>
          <p:cNvCxnSpPr/>
          <p:nvPr/>
        </p:nvCxnSpPr>
        <p:spPr>
          <a:xfrm rot="10800000">
            <a:off x="4399000" y="1143100"/>
            <a:ext cx="22629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g3f75a8d7366_0_0"/>
          <p:cNvSpPr txBox="1"/>
          <p:nvPr/>
        </p:nvSpPr>
        <p:spPr>
          <a:xfrm>
            <a:off x="748645" y="474525"/>
            <a:ext cx="825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Arduino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f75a8d7366_0_0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5945f65e_0_0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75945f65e_0_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75945f65e_0_0"/>
          <p:cNvSpPr txBox="1"/>
          <p:nvPr/>
        </p:nvSpPr>
        <p:spPr>
          <a:xfrm>
            <a:off x="7520305" y="1551305"/>
            <a:ext cx="36126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 com furos ligados uns nos outros por dentro, onde existem “caminhos” metálicos para que você faça ligações elétricas temporárias usando fios.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Fios e peças estão conectados uns nos outros se estão na mesma linha vertical.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g3f75945f65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70" y="1558925"/>
            <a:ext cx="7353935" cy="482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f75945f65e_0_0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75945f65e_0_0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Protoboard: a placa de ensaio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5945f65e_0_34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75945f65e_0_34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75945f65e_0_345"/>
          <p:cNvSpPr/>
          <p:nvPr/>
        </p:nvSpPr>
        <p:spPr>
          <a:xfrm>
            <a:off x="596950" y="3974475"/>
            <a:ext cx="2075100" cy="16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f75945f65e_0_3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650" y="1899153"/>
            <a:ext cx="5510100" cy="357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75945f65e_0_345"/>
          <p:cNvSpPr txBox="1"/>
          <p:nvPr/>
        </p:nvSpPr>
        <p:spPr>
          <a:xfrm>
            <a:off x="630975" y="5675382"/>
            <a:ext cx="86235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LED										      	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f75945f65e_0_345"/>
          <p:cNvSpPr txBox="1"/>
          <p:nvPr/>
        </p:nvSpPr>
        <p:spPr>
          <a:xfrm>
            <a:off x="6630675" y="1655532"/>
            <a:ext cx="47499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LEDs são diodos emissores de luz (Light emissor diode).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São componentes sensíveis, e por isso, geralmente deve ser adicionado com um resistor para que não sofra sobrecarga.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f75945f65e_0_345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Resistores e LEDs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f75945f65e_0_345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75945f65e_0_77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75945f65e_0_77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75945f65e_0_77"/>
          <p:cNvSpPr/>
          <p:nvPr/>
        </p:nvSpPr>
        <p:spPr>
          <a:xfrm>
            <a:off x="596950" y="3974475"/>
            <a:ext cx="2075100" cy="16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g3f75945f65e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1650" y="937184"/>
            <a:ext cx="4956620" cy="49566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f75945f65e_0_77"/>
          <p:cNvSpPr txBox="1"/>
          <p:nvPr/>
        </p:nvSpPr>
        <p:spPr>
          <a:xfrm>
            <a:off x="748650" y="1604500"/>
            <a:ext cx="5851500" cy="5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resistor é um componente que limita ou controla o fluxo de uma corrente elétrica em um circuito, barrando a passagem dos elétrons.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escala de resistência é medida em Ohms (</a:t>
            </a:r>
            <a:r>
              <a:rPr lang="en-US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Ω) e pode ser identificada a partir da coloração de suas faixas.</a:t>
            </a:r>
            <a:endParaRPr sz="2800">
              <a:solidFill>
                <a:srgbClr val="101418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101418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Resistores também reduzem a tensão e convertem a energia elétrica em calor.</a:t>
            </a:r>
            <a:endParaRPr sz="2800">
              <a:solidFill>
                <a:srgbClr val="101418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3f75945f65e_0_77"/>
          <p:cNvSpPr txBox="1"/>
          <p:nvPr/>
        </p:nvSpPr>
        <p:spPr>
          <a:xfrm>
            <a:off x="6696900" y="5612525"/>
            <a:ext cx="4248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Resistor 10K</a:t>
            </a:r>
            <a:r>
              <a:rPr lang="en-US" sz="2800">
                <a:solidFill>
                  <a:srgbClr val="101418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Ω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75945f65e_0_77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75945f65e_0_77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Resistores e LEDs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5945f65e_0_89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75945f65e_0_89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75945f65e_0_89"/>
          <p:cNvSpPr txBox="1"/>
          <p:nvPr/>
        </p:nvSpPr>
        <p:spPr>
          <a:xfrm>
            <a:off x="748645" y="474525"/>
            <a:ext cx="82506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Resistores e LEDs</a:t>
            </a:r>
            <a:endParaRPr sz="489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f75945f65e_0_89"/>
          <p:cNvSpPr/>
          <p:nvPr/>
        </p:nvSpPr>
        <p:spPr>
          <a:xfrm>
            <a:off x="596950" y="3974475"/>
            <a:ext cx="2075100" cy="165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g3f75945f65e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225" y="1158974"/>
            <a:ext cx="3382549" cy="33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f75945f65e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50" y="1158980"/>
            <a:ext cx="7273829" cy="547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f75945f65e_0_89"/>
          <p:cNvSpPr txBox="1"/>
          <p:nvPr/>
        </p:nvSpPr>
        <p:spPr>
          <a:xfrm>
            <a:off x="7942001" y="4264595"/>
            <a:ext cx="3705000" cy="224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7F4B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1" lang="en-US" sz="2800">
                <a:solidFill>
                  <a:schemeClr val="accent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1K</a:t>
            </a:r>
            <a:r>
              <a:rPr lang="en-US" sz="2800">
                <a:solidFill>
                  <a:schemeClr val="accent2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Ω</a:t>
            </a:r>
            <a:r>
              <a:rPr b="1" lang="en-US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10K</a:t>
            </a:r>
            <a:r>
              <a:rPr b="1" lang="en-US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Ω</a:t>
            </a:r>
            <a:r>
              <a:rPr b="1" lang="en-US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Resistor de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10K</a:t>
            </a:r>
            <a:r>
              <a:rPr b="1" lang="en-US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Ω</a:t>
            </a:r>
            <a:r>
              <a:rPr lang="en-US" sz="2800">
                <a:solidFill>
                  <a:srgbClr val="101418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com </a:t>
            </a:r>
            <a:r>
              <a:rPr b="1" lang="en-US" sz="2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±5%</a:t>
            </a:r>
            <a:r>
              <a:rPr b="1" lang="en-US" sz="2800">
                <a:solidFill>
                  <a:schemeClr val="accent4"/>
                </a:solidFill>
                <a:highlight>
                  <a:schemeClr val="lt1"/>
                </a:highlight>
              </a:rPr>
              <a:t> </a:t>
            </a:r>
            <a:r>
              <a:rPr lang="en-US" sz="2800">
                <a:solidFill>
                  <a:schemeClr val="dk1"/>
                </a:solidFill>
                <a:highlight>
                  <a:schemeClr val="lt1"/>
                </a:highlight>
              </a:rPr>
              <a:t>de tolerância (faixa dourada).</a:t>
            </a: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07" name="Google Shape;207;g3f75945f65e_0_89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4a36f7e4b3_0_215"/>
          <p:cNvPicPr preferRelativeResize="0"/>
          <p:nvPr/>
        </p:nvPicPr>
        <p:blipFill rotWithShape="1">
          <a:blip r:embed="rId3">
            <a:alphaModFix/>
          </a:blip>
          <a:srcRect b="0" l="0" r="0" t="-19303"/>
          <a:stretch/>
        </p:blipFill>
        <p:spPr>
          <a:xfrm>
            <a:off x="8" y="660719"/>
            <a:ext cx="12192000" cy="5829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4a36f7e4b3_0_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7550"/>
            <a:ext cx="5311435" cy="20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4a36f7e4b3_0_215"/>
          <p:cNvSpPr txBox="1"/>
          <p:nvPr/>
        </p:nvSpPr>
        <p:spPr>
          <a:xfrm>
            <a:off x="4627600" y="2078367"/>
            <a:ext cx="714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4a36f7e4b3_0_215"/>
          <p:cNvSpPr txBox="1"/>
          <p:nvPr/>
        </p:nvSpPr>
        <p:spPr>
          <a:xfrm>
            <a:off x="4413133" y="2306617"/>
            <a:ext cx="642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Pino 7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34a36f7e4b3_0_2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8267" y="660719"/>
            <a:ext cx="2383734" cy="164591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4a36f7e4b3_0_215"/>
          <p:cNvSpPr txBox="1"/>
          <p:nvPr/>
        </p:nvSpPr>
        <p:spPr>
          <a:xfrm>
            <a:off x="11519535" y="6365315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4a36f7e4b3_0_215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4a36f7e4b3_0_21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a36f7e4b3_0_277"/>
          <p:cNvSpPr txBox="1"/>
          <p:nvPr>
            <p:ph type="title"/>
          </p:nvPr>
        </p:nvSpPr>
        <p:spPr>
          <a:xfrm>
            <a:off x="513600" y="235917"/>
            <a:ext cx="116784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O pisca LED: Código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g34a36f7e4b3_0_2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7571"/>
            <a:ext cx="12191999" cy="5129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4a36f7e4b3_0_277"/>
          <p:cNvSpPr txBox="1"/>
          <p:nvPr/>
        </p:nvSpPr>
        <p:spPr>
          <a:xfrm>
            <a:off x="1980167" y="0"/>
            <a:ext cx="785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4a36f7e4b3_0_277"/>
          <p:cNvSpPr txBox="1"/>
          <p:nvPr/>
        </p:nvSpPr>
        <p:spPr>
          <a:xfrm>
            <a:off x="11519535" y="6365315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4a36f7e4b3_0_277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4a36f7e4b3_0_277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620395" y="1800225"/>
            <a:ext cx="10636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2025.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915160"/>
            <a:ext cx="2335530" cy="302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0"/>
          <p:cNvPicPr preferRelativeResize="0"/>
          <p:nvPr/>
        </p:nvPicPr>
        <p:blipFill rotWithShape="1">
          <a:blip r:embed="rId4">
            <a:alphaModFix/>
          </a:blip>
          <a:srcRect b="-4340" l="-1229" r="69262" t="-2791"/>
          <a:stretch/>
        </p:blipFill>
        <p:spPr>
          <a:xfrm>
            <a:off x="8963660" y="2051050"/>
            <a:ext cx="1892935" cy="179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0"/>
          <p:cNvPicPr preferRelativeResize="0"/>
          <p:nvPr/>
        </p:nvPicPr>
        <p:blipFill rotWithShape="1">
          <a:blip r:embed="rId4">
            <a:alphaModFix/>
          </a:blip>
          <a:srcRect b="-5708" l="32768" r="-8782" t="5708"/>
          <a:stretch/>
        </p:blipFill>
        <p:spPr>
          <a:xfrm>
            <a:off x="7987030" y="3698875"/>
            <a:ext cx="3846195" cy="145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 txBox="1"/>
          <p:nvPr>
            <p:ph type="ctrTitle"/>
          </p:nvPr>
        </p:nvSpPr>
        <p:spPr>
          <a:xfrm>
            <a:off x="528955" y="1515110"/>
            <a:ext cx="5185410" cy="2807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Agradecemos pela atenção!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2025-03-28T23:09:00Z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1046-12.2.0.20782</vt:lpwstr>
  </property>
  <property fmtid="{D5CDD505-2E9C-101B-9397-08002B2CF9AE}" pid="3" name="ICV">
    <vt:lpwstr>8B3BF31CB6E447E383E22A3FF0C87609_13</vt:lpwstr>
  </property>
</Properties>
</file>