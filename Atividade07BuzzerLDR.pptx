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6858000" cx="12192000"/>
  <p:notesSz cx="7104050" cy="102346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5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5" roundtripDataSignature="AMtx7mjAha+FwzdIpQTfHqDPK4Toibwwb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59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customschemas.google.com/relationships/presentationmetadata" Target="metadata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4313" y="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185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3e75035a2_0_81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3f3e75035a2_0_81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g3f3e75035a2_0_81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:notes"/>
          <p:cNvSpPr/>
          <p:nvPr>
            <p:ph idx="2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2:notes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:notes"/>
          <p:cNvSpPr txBox="1"/>
          <p:nvPr>
            <p:ph idx="12" type="sldNum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:notes"/>
          <p:cNvSpPr/>
          <p:nvPr>
            <p:ph idx="2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4:notes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4:notes"/>
          <p:cNvSpPr txBox="1"/>
          <p:nvPr>
            <p:ph idx="12" type="sldNum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:notes"/>
          <p:cNvSpPr/>
          <p:nvPr>
            <p:ph idx="2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6:notes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6:notes"/>
          <p:cNvSpPr txBox="1"/>
          <p:nvPr>
            <p:ph idx="12" type="sldNum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/>
          <p:nvPr>
            <p:ph idx="2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7:notes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7:notes"/>
          <p:cNvSpPr txBox="1"/>
          <p:nvPr>
            <p:ph idx="12" type="sldNum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:notes"/>
          <p:cNvSpPr/>
          <p:nvPr>
            <p:ph idx="2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8:notes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8:notes"/>
          <p:cNvSpPr txBox="1"/>
          <p:nvPr>
            <p:ph idx="12" type="sldNum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f3e75035a2_1_15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g3f3e75035a2_1_15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3f3e75035a2_1_15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0:notes"/>
          <p:cNvSpPr/>
          <p:nvPr>
            <p:ph idx="2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10:notes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0:notes"/>
          <p:cNvSpPr txBox="1"/>
          <p:nvPr>
            <p:ph idx="12" type="sldNum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1524000" y="1322962"/>
            <a:ext cx="9144000" cy="21870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0" name="Google Shape;20;p1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647700" y="25844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1"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6477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  <a:defRPr sz="2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831850" y="3750945"/>
            <a:ext cx="9843135" cy="8115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831850" y="4610028"/>
            <a:ext cx="7321550" cy="6475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  <a:defRPr sz="24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647700" y="25844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6477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  <a:defRPr sz="2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59817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  <a:defRPr b="0" i="0" sz="2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</a:defRPr>
            </a:lvl2pPr>
            <a:lvl3pPr indent="-3556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3pPr>
            <a:lvl4pPr indent="-3556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4pPr>
            <a:lvl5pPr indent="-3556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839788" y="1744961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839788" y="2615609"/>
            <a:ext cx="5157787" cy="3574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6172200" y="1744961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6172200" y="2615609"/>
            <a:ext cx="5183188" cy="3574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838200" y="276621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9"/>
          <p:cNvSpPr txBox="1"/>
          <p:nvPr>
            <p:ph type="title"/>
          </p:nvPr>
        </p:nvSpPr>
        <p:spPr>
          <a:xfrm>
            <a:off x="646747" y="127000"/>
            <a:ext cx="41652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sz="32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/>
          <p:nvPr>
            <p:ph idx="2" type="pic"/>
          </p:nvPr>
        </p:nvSpPr>
        <p:spPr>
          <a:xfrm>
            <a:off x="5184000" y="766354"/>
            <a:ext cx="5817375" cy="5094446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19"/>
          <p:cNvSpPr txBox="1"/>
          <p:nvPr>
            <p:ph idx="1" type="body"/>
          </p:nvPr>
        </p:nvSpPr>
        <p:spPr>
          <a:xfrm>
            <a:off x="651827" y="2057400"/>
            <a:ext cx="4165200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0"/>
          <p:cNvSpPr txBox="1"/>
          <p:nvPr>
            <p:ph type="title"/>
          </p:nvPr>
        </p:nvSpPr>
        <p:spPr>
          <a:xfrm rot="5400000">
            <a:off x="7683223" y="2506386"/>
            <a:ext cx="5811838" cy="15293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" type="body"/>
          </p:nvPr>
        </p:nvSpPr>
        <p:spPr>
          <a:xfrm rot="5400000">
            <a:off x="2372260" y="-1168935"/>
            <a:ext cx="5811838" cy="88799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5" name="Google Shape;75;p21"/>
          <p:cNvSpPr txBox="1"/>
          <p:nvPr>
            <p:ph idx="1" type="body"/>
          </p:nvPr>
        </p:nvSpPr>
        <p:spPr>
          <a:xfrm>
            <a:off x="838200" y="551543"/>
            <a:ext cx="10515600" cy="55589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f3e75035a2_0_101"/>
          <p:cNvSpPr txBox="1"/>
          <p:nvPr>
            <p:ph type="ctrTitle"/>
          </p:nvPr>
        </p:nvSpPr>
        <p:spPr>
          <a:xfrm>
            <a:off x="1524000" y="1322962"/>
            <a:ext cx="9144000" cy="2187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g3f3e75035a2_0_10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g3f3e75035a2_0_10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g3f3e75035a2_0_10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7" name="Google Shape;87;g3f3e75035a2_0_101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3e75035a2_0_107"/>
          <p:cNvSpPr txBox="1"/>
          <p:nvPr>
            <p:ph type="title"/>
          </p:nvPr>
        </p:nvSpPr>
        <p:spPr>
          <a:xfrm>
            <a:off x="647700" y="25844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1" sz="44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g3f3e75035a2_0_107"/>
          <p:cNvSpPr txBox="1"/>
          <p:nvPr>
            <p:ph idx="1" type="body"/>
          </p:nvPr>
        </p:nvSpPr>
        <p:spPr>
          <a:xfrm>
            <a:off x="6477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  <a:defRPr sz="2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g3f3e75035a2_0_10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g3f3e75035a2_0_10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g3f3e75035a2_0_10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f3e75035a2_0_113"/>
          <p:cNvSpPr txBox="1"/>
          <p:nvPr>
            <p:ph type="title"/>
          </p:nvPr>
        </p:nvSpPr>
        <p:spPr>
          <a:xfrm>
            <a:off x="831850" y="3750945"/>
            <a:ext cx="9843000" cy="811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g3f3e75035a2_0_113"/>
          <p:cNvSpPr txBox="1"/>
          <p:nvPr>
            <p:ph idx="1" type="body"/>
          </p:nvPr>
        </p:nvSpPr>
        <p:spPr>
          <a:xfrm>
            <a:off x="831850" y="4610028"/>
            <a:ext cx="73215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  <a:defRPr sz="24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7" name="Google Shape;97;g3f3e75035a2_0_11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g3f3e75035a2_0_11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g3f3e75035a2_0_11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3e75035a2_0_119"/>
          <p:cNvSpPr txBox="1"/>
          <p:nvPr>
            <p:ph type="title"/>
          </p:nvPr>
        </p:nvSpPr>
        <p:spPr>
          <a:xfrm>
            <a:off x="647700" y="25844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g3f3e75035a2_0_119"/>
          <p:cNvSpPr txBox="1"/>
          <p:nvPr>
            <p:ph idx="1" type="body"/>
          </p:nvPr>
        </p:nvSpPr>
        <p:spPr>
          <a:xfrm>
            <a:off x="6477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  <a:defRPr sz="2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g3f3e75035a2_0_119"/>
          <p:cNvSpPr txBox="1"/>
          <p:nvPr>
            <p:ph idx="2" type="body"/>
          </p:nvPr>
        </p:nvSpPr>
        <p:spPr>
          <a:xfrm>
            <a:off x="59817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  <a:defRPr b="0" i="0" sz="2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</a:defRPr>
            </a:lvl2pPr>
            <a:lvl3pPr indent="-3556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3pPr>
            <a:lvl4pPr indent="-3556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4pPr>
            <a:lvl5pPr indent="-3556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g3f3e75035a2_0_11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g3f3e75035a2_0_11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g3f3e75035a2_0_11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f3e75035a2_0_126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g3f3e75035a2_0_126"/>
          <p:cNvSpPr txBox="1"/>
          <p:nvPr>
            <p:ph idx="1" type="body"/>
          </p:nvPr>
        </p:nvSpPr>
        <p:spPr>
          <a:xfrm>
            <a:off x="839788" y="1744961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0" name="Google Shape;110;g3f3e75035a2_0_126"/>
          <p:cNvSpPr txBox="1"/>
          <p:nvPr>
            <p:ph idx="2" type="body"/>
          </p:nvPr>
        </p:nvSpPr>
        <p:spPr>
          <a:xfrm>
            <a:off x="839788" y="2615609"/>
            <a:ext cx="5157900" cy="3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" name="Google Shape;111;g3f3e75035a2_0_126"/>
          <p:cNvSpPr txBox="1"/>
          <p:nvPr>
            <p:ph idx="3" type="body"/>
          </p:nvPr>
        </p:nvSpPr>
        <p:spPr>
          <a:xfrm>
            <a:off x="6172200" y="1744961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2" name="Google Shape;112;g3f3e75035a2_0_126"/>
          <p:cNvSpPr txBox="1"/>
          <p:nvPr>
            <p:ph idx="4" type="body"/>
          </p:nvPr>
        </p:nvSpPr>
        <p:spPr>
          <a:xfrm>
            <a:off x="6172200" y="2615609"/>
            <a:ext cx="5183100" cy="3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g3f3e75035a2_0_12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g3f3e75035a2_0_12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g3f3e75035a2_0_12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3e75035a2_0_135"/>
          <p:cNvSpPr txBox="1"/>
          <p:nvPr>
            <p:ph type="title"/>
          </p:nvPr>
        </p:nvSpPr>
        <p:spPr>
          <a:xfrm>
            <a:off x="838200" y="276621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sz="44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g3f3e75035a2_0_13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g3f3e75035a2_0_13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g3f3e75035a2_0_13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f3e75035a2_0_14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g3f3e75035a2_0_14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g3f3e75035a2_0_14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3e75035a2_0_144"/>
          <p:cNvSpPr txBox="1"/>
          <p:nvPr>
            <p:ph type="title"/>
          </p:nvPr>
        </p:nvSpPr>
        <p:spPr>
          <a:xfrm>
            <a:off x="646747" y="127000"/>
            <a:ext cx="41652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sz="32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g3f3e75035a2_0_144"/>
          <p:cNvSpPr/>
          <p:nvPr>
            <p:ph idx="2" type="pic"/>
          </p:nvPr>
        </p:nvSpPr>
        <p:spPr>
          <a:xfrm>
            <a:off x="5184000" y="766354"/>
            <a:ext cx="5817300" cy="5094300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g3f3e75035a2_0_144"/>
          <p:cNvSpPr txBox="1"/>
          <p:nvPr>
            <p:ph idx="1" type="body"/>
          </p:nvPr>
        </p:nvSpPr>
        <p:spPr>
          <a:xfrm>
            <a:off x="651827" y="2057400"/>
            <a:ext cx="41652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29" name="Google Shape;129;g3f3e75035a2_0_14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g3f3e75035a2_0_14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g3f3e75035a2_0_14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3e75035a2_0_151"/>
          <p:cNvSpPr txBox="1"/>
          <p:nvPr>
            <p:ph type="title"/>
          </p:nvPr>
        </p:nvSpPr>
        <p:spPr>
          <a:xfrm rot="5400000">
            <a:off x="7683150" y="2506375"/>
            <a:ext cx="5811900" cy="152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g3f3e75035a2_0_151"/>
          <p:cNvSpPr txBox="1"/>
          <p:nvPr>
            <p:ph idx="1" type="body"/>
          </p:nvPr>
        </p:nvSpPr>
        <p:spPr>
          <a:xfrm rot="5400000">
            <a:off x="2372208" y="-1168925"/>
            <a:ext cx="5811900" cy="88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5" name="Google Shape;135;g3f3e75035a2_0_15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g3f3e75035a2_0_15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g3f3e75035a2_0_15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3e75035a2_0_15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g3f3e75035a2_0_15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g3f3e75035a2_0_15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42" name="Google Shape;142;g3f3e75035a2_0_157"/>
          <p:cNvSpPr txBox="1"/>
          <p:nvPr>
            <p:ph idx="1" type="body"/>
          </p:nvPr>
        </p:nvSpPr>
        <p:spPr>
          <a:xfrm>
            <a:off x="838200" y="551543"/>
            <a:ext cx="10515600" cy="55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20.xml"/><Relationship Id="rId9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f3e75035a2_0_9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8" name="Google Shape;78;g3f3e75035a2_0_9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Google Shape;79;g3f3e75035a2_0_9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0" name="Google Shape;80;g3f3e75035a2_0_9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Google Shape;81;g3f3e75035a2_0_9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f3e75035a2_0_81"/>
          <p:cNvSpPr txBox="1"/>
          <p:nvPr/>
        </p:nvSpPr>
        <p:spPr>
          <a:xfrm>
            <a:off x="753825" y="500500"/>
            <a:ext cx="10671300" cy="129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Universidade Estadual de Santa Cruz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Programa de Iniciação à Docência - PID, Edital N° 54/2025</a:t>
            </a:r>
            <a:br>
              <a:rPr lang="pt-BR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pt-BR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Ciência da Computação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9" name="Google Shape;149;g3f3e75035a2_0_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95025" y="500507"/>
            <a:ext cx="842772" cy="1092403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g3f3e75035a2_0_81"/>
          <p:cNvSpPr txBox="1"/>
          <p:nvPr/>
        </p:nvSpPr>
        <p:spPr>
          <a:xfrm>
            <a:off x="5271770" y="5972810"/>
            <a:ext cx="1647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Bahia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2025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g3f3e75035a2_0_81"/>
          <p:cNvSpPr/>
          <p:nvPr/>
        </p:nvSpPr>
        <p:spPr>
          <a:xfrm>
            <a:off x="0" y="0"/>
            <a:ext cx="12192640" cy="332104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F0E6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g3f3e75035a2_0_81"/>
          <p:cNvSpPr/>
          <p:nvPr/>
        </p:nvSpPr>
        <p:spPr>
          <a:xfrm>
            <a:off x="0" y="0"/>
            <a:ext cx="11519531" cy="332104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4561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g3f3e75035a2_0_81"/>
          <p:cNvSpPr/>
          <p:nvPr/>
        </p:nvSpPr>
        <p:spPr>
          <a:xfrm>
            <a:off x="1463675" y="2574291"/>
            <a:ext cx="4527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4" name="Google Shape;154;g3f3e75035a2_0_81"/>
          <p:cNvPicPr preferRelativeResize="0"/>
          <p:nvPr/>
        </p:nvPicPr>
        <p:blipFill rotWithShape="1">
          <a:blip r:embed="rId4">
            <a:alphaModFix/>
          </a:blip>
          <a:srcRect b="0" l="0" r="61296" t="0"/>
          <a:stretch/>
        </p:blipFill>
        <p:spPr>
          <a:xfrm>
            <a:off x="563245" y="553720"/>
            <a:ext cx="10224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g3f3e75035a2_0_81"/>
          <p:cNvPicPr preferRelativeResize="0"/>
          <p:nvPr/>
        </p:nvPicPr>
        <p:blipFill rotWithShape="1">
          <a:blip r:embed="rId4">
            <a:alphaModFix/>
          </a:blip>
          <a:srcRect b="-5710" l="32771" r="-8788" t="5710"/>
          <a:stretch/>
        </p:blipFill>
        <p:spPr>
          <a:xfrm>
            <a:off x="76200" y="1315720"/>
            <a:ext cx="1808480" cy="68643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g3f3e75035a2_0_81"/>
          <p:cNvSpPr txBox="1"/>
          <p:nvPr/>
        </p:nvSpPr>
        <p:spPr>
          <a:xfrm>
            <a:off x="2113275" y="2302650"/>
            <a:ext cx="7952400" cy="22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Projeto de ensino</a:t>
            </a:r>
            <a:r>
              <a:rPr lang="pt-BR" sz="4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4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Atividades Maker para Alunos do Ensino Médio</a:t>
            </a:r>
            <a:br>
              <a:rPr lang="pt-BR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pt-BR" sz="2800">
                <a:latin typeface="Times New Roman"/>
                <a:ea typeface="Times New Roman"/>
                <a:cs typeface="Times New Roman"/>
                <a:sym typeface="Times New Roman"/>
              </a:rPr>
              <a:t>Atividade 7 - LDR + LED + Buzzer</a:t>
            </a:r>
            <a:endParaRPr sz="2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" name="Google Shape;157;g3f3e75035a2_0_81"/>
          <p:cNvSpPr txBox="1"/>
          <p:nvPr/>
        </p:nvSpPr>
        <p:spPr>
          <a:xfrm>
            <a:off x="1540225" y="4421850"/>
            <a:ext cx="9112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Autor: Isaque Silva Passos Ribeiro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Colaborador(es): Alex Santos Amaral e Ronaldo Ribeiro Porto Filho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"/>
          <p:cNvSpPr/>
          <p:nvPr/>
        </p:nvSpPr>
        <p:spPr>
          <a:xfrm>
            <a:off x="-1270" y="0"/>
            <a:ext cx="12192635" cy="332105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F0E6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"/>
          <p:cNvSpPr/>
          <p:nvPr/>
        </p:nvSpPr>
        <p:spPr>
          <a:xfrm>
            <a:off x="0" y="0"/>
            <a:ext cx="11519535" cy="332105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4561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"/>
          <p:cNvSpPr txBox="1"/>
          <p:nvPr>
            <p:ph idx="12" type="sldNum"/>
          </p:nvPr>
        </p:nvSpPr>
        <p:spPr>
          <a:xfrm>
            <a:off x="11520170" y="6356350"/>
            <a:ext cx="4679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"/>
          <p:cNvSpPr txBox="1"/>
          <p:nvPr/>
        </p:nvSpPr>
        <p:spPr>
          <a:xfrm>
            <a:off x="620395" y="1234951"/>
            <a:ext cx="11000700" cy="43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pt-BR" sz="3200">
                <a:latin typeface="Times New Roman"/>
                <a:ea typeface="Times New Roman"/>
                <a:cs typeface="Times New Roman"/>
                <a:sym typeface="Times New Roman"/>
              </a:rPr>
              <a:t>Desenvolvimento da atividade 7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pt-BR" sz="3200">
                <a:latin typeface="Times New Roman"/>
                <a:ea typeface="Times New Roman"/>
                <a:cs typeface="Times New Roman"/>
                <a:sym typeface="Times New Roman"/>
              </a:rPr>
              <a:t>LDR + LED + Buzzer: código</a:t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7" name="Google Shape;167;p2"/>
          <p:cNvCxnSpPr/>
          <p:nvPr/>
        </p:nvCxnSpPr>
        <p:spPr>
          <a:xfrm flipH="1">
            <a:off x="6252750" y="2122614"/>
            <a:ext cx="4080300" cy="12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68" name="Google Shape;168;p2"/>
          <p:cNvCxnSpPr/>
          <p:nvPr/>
        </p:nvCxnSpPr>
        <p:spPr>
          <a:xfrm flipH="1" rot="10800000">
            <a:off x="5970796" y="2622866"/>
            <a:ext cx="4410000" cy="21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69" name="Google Shape;169;p2"/>
          <p:cNvSpPr txBox="1"/>
          <p:nvPr/>
        </p:nvSpPr>
        <p:spPr>
          <a:xfrm>
            <a:off x="10367065" y="1707194"/>
            <a:ext cx="639300" cy="40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32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3200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" name="Google Shape;170;p2"/>
          <p:cNvSpPr txBox="1"/>
          <p:nvPr/>
        </p:nvSpPr>
        <p:spPr>
          <a:xfrm>
            <a:off x="740951" y="641150"/>
            <a:ext cx="89619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3"/>
              <a:buFont typeface="Times New Roman"/>
              <a:buNone/>
            </a:pPr>
            <a:r>
              <a:rPr lang="pt-BR" sz="4850">
                <a:latin typeface="Times New Roman"/>
                <a:ea typeface="Times New Roman"/>
                <a:cs typeface="Times New Roman"/>
                <a:sym typeface="Times New Roman"/>
              </a:rPr>
              <a:t>Sumário</a:t>
            </a:r>
            <a:endParaRPr b="0" i="0" sz="4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"/>
          <p:cNvSpPr/>
          <p:nvPr/>
        </p:nvSpPr>
        <p:spPr>
          <a:xfrm>
            <a:off x="0" y="0"/>
            <a:ext cx="12192635" cy="332105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F0E6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4"/>
          <p:cNvSpPr/>
          <p:nvPr/>
        </p:nvSpPr>
        <p:spPr>
          <a:xfrm>
            <a:off x="0" y="0"/>
            <a:ext cx="11519535" cy="332105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4561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4"/>
          <p:cNvSpPr txBox="1"/>
          <p:nvPr>
            <p:ph idx="12" type="sldNum"/>
          </p:nvPr>
        </p:nvSpPr>
        <p:spPr>
          <a:xfrm>
            <a:off x="11520170" y="6356350"/>
            <a:ext cx="4679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9" name="Google Shape;17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8549" y="1513166"/>
            <a:ext cx="7854114" cy="485273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0" name="Google Shape;180;p4"/>
          <p:cNvSpPr txBox="1"/>
          <p:nvPr/>
        </p:nvSpPr>
        <p:spPr>
          <a:xfrm>
            <a:off x="740951" y="641150"/>
            <a:ext cx="89619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3"/>
              <a:buFont typeface="Times New Roman"/>
              <a:buNone/>
            </a:pPr>
            <a:r>
              <a:rPr lang="pt-BR" sz="4850">
                <a:latin typeface="Times New Roman"/>
                <a:ea typeface="Times New Roman"/>
                <a:cs typeface="Times New Roman"/>
                <a:sym typeface="Times New Roman"/>
              </a:rPr>
              <a:t>Desenvolvimento da atividade 7</a:t>
            </a:r>
            <a:endParaRPr b="0" i="0" sz="4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"/>
          <p:cNvSpPr/>
          <p:nvPr/>
        </p:nvSpPr>
        <p:spPr>
          <a:xfrm>
            <a:off x="0" y="0"/>
            <a:ext cx="12192635" cy="332105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F0E6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0" y="0"/>
            <a:ext cx="11519535" cy="332105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4561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 txBox="1"/>
          <p:nvPr>
            <p:ph idx="12" type="sldNum"/>
          </p:nvPr>
        </p:nvSpPr>
        <p:spPr>
          <a:xfrm>
            <a:off x="11520170" y="6356350"/>
            <a:ext cx="4679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9" name="Google Shape;18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8549" y="1513166"/>
            <a:ext cx="7854114" cy="485273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0" name="Google Shape;190;p6"/>
          <p:cNvSpPr/>
          <p:nvPr/>
        </p:nvSpPr>
        <p:spPr>
          <a:xfrm>
            <a:off x="6539269" y="3374426"/>
            <a:ext cx="1470300" cy="8148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chemeClr val="accent2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Tá claro!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 txBox="1"/>
          <p:nvPr/>
        </p:nvSpPr>
        <p:spPr>
          <a:xfrm>
            <a:off x="740951" y="641150"/>
            <a:ext cx="89619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3"/>
              <a:buFont typeface="Times New Roman"/>
              <a:buNone/>
            </a:pPr>
            <a:r>
              <a:rPr lang="pt-BR" sz="4850">
                <a:latin typeface="Times New Roman"/>
                <a:ea typeface="Times New Roman"/>
                <a:cs typeface="Times New Roman"/>
                <a:sym typeface="Times New Roman"/>
              </a:rPr>
              <a:t>Desenvolvimento da atividade 7</a:t>
            </a:r>
            <a:endParaRPr b="0" i="0" sz="4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"/>
          <p:cNvSpPr/>
          <p:nvPr/>
        </p:nvSpPr>
        <p:spPr>
          <a:xfrm>
            <a:off x="0" y="0"/>
            <a:ext cx="12192635" cy="332105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F0E6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0" y="0"/>
            <a:ext cx="11519535" cy="332105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4561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 txBox="1"/>
          <p:nvPr>
            <p:ph idx="12" type="sldNum"/>
          </p:nvPr>
        </p:nvSpPr>
        <p:spPr>
          <a:xfrm>
            <a:off x="11520170" y="6356350"/>
            <a:ext cx="4679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6651564" y="3422786"/>
            <a:ext cx="1680825" cy="784727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chemeClr val="accent2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Tá escuro!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1" name="Google Shape;20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37536" y="1157288"/>
            <a:ext cx="9277350" cy="530542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7"/>
          <p:cNvSpPr/>
          <p:nvPr/>
        </p:nvSpPr>
        <p:spPr>
          <a:xfrm>
            <a:off x="6970401" y="3295023"/>
            <a:ext cx="1490325" cy="814805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chemeClr val="accent2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Tá escuro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5606506" y="2300483"/>
            <a:ext cx="1559364" cy="1394901"/>
          </a:xfrm>
          <a:prstGeom prst="ellipse">
            <a:avLst/>
          </a:prstGeom>
          <a:noFill/>
          <a:ln cap="flat" cmpd="sng" w="28575">
            <a:solidFill>
              <a:srgbClr val="FF33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9596979" y="3934772"/>
            <a:ext cx="1398944" cy="1204402"/>
          </a:xfrm>
          <a:prstGeom prst="ellipse">
            <a:avLst/>
          </a:prstGeom>
          <a:noFill/>
          <a:ln cap="flat" cmpd="sng" w="28575">
            <a:solidFill>
              <a:srgbClr val="FF33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 txBox="1"/>
          <p:nvPr/>
        </p:nvSpPr>
        <p:spPr>
          <a:xfrm>
            <a:off x="740951" y="641150"/>
            <a:ext cx="89619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3"/>
              <a:buFont typeface="Times New Roman"/>
              <a:buNone/>
            </a:pPr>
            <a:r>
              <a:rPr lang="pt-BR" sz="4850">
                <a:latin typeface="Times New Roman"/>
                <a:ea typeface="Times New Roman"/>
                <a:cs typeface="Times New Roman"/>
                <a:sym typeface="Times New Roman"/>
              </a:rPr>
              <a:t>Desenvolvimento da atividade 7</a:t>
            </a:r>
            <a:endParaRPr b="0" i="0" sz="4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8"/>
          <p:cNvSpPr/>
          <p:nvPr/>
        </p:nvSpPr>
        <p:spPr>
          <a:xfrm>
            <a:off x="0" y="0"/>
            <a:ext cx="12192635" cy="332105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F0E6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0" y="0"/>
            <a:ext cx="11519535" cy="332105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4561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 txBox="1"/>
          <p:nvPr>
            <p:ph idx="12" type="sldNum"/>
          </p:nvPr>
        </p:nvSpPr>
        <p:spPr>
          <a:xfrm>
            <a:off x="11520170" y="6356350"/>
            <a:ext cx="4679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exto&#10;&#10;O conteúdo gerado por IA pode estar incorreto." id="214" name="Google Shape;21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47462" y="1609299"/>
            <a:ext cx="6297700" cy="48398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5" name="Google Shape;215;p8"/>
          <p:cNvSpPr txBox="1"/>
          <p:nvPr/>
        </p:nvSpPr>
        <p:spPr>
          <a:xfrm>
            <a:off x="740951" y="641150"/>
            <a:ext cx="89619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3"/>
              <a:buFont typeface="Times New Roman"/>
              <a:buNone/>
            </a:pPr>
            <a:r>
              <a:rPr lang="pt-BR" sz="4850">
                <a:latin typeface="Times New Roman"/>
                <a:ea typeface="Times New Roman"/>
                <a:cs typeface="Times New Roman"/>
                <a:sym typeface="Times New Roman"/>
              </a:rPr>
              <a:t>LDR + LED + Buzzer: código</a:t>
            </a:r>
            <a:endParaRPr b="0" i="0" sz="4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f3e75035a2_1_15"/>
          <p:cNvSpPr/>
          <p:nvPr/>
        </p:nvSpPr>
        <p:spPr>
          <a:xfrm>
            <a:off x="0" y="0"/>
            <a:ext cx="12192640" cy="332104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F0E6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g3f3e75035a2_1_15"/>
          <p:cNvSpPr/>
          <p:nvPr/>
        </p:nvSpPr>
        <p:spPr>
          <a:xfrm>
            <a:off x="0" y="0"/>
            <a:ext cx="11519531" cy="332104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4561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g3f3e75035a2_1_15"/>
          <p:cNvSpPr txBox="1"/>
          <p:nvPr>
            <p:ph type="ctrTitle"/>
          </p:nvPr>
        </p:nvSpPr>
        <p:spPr>
          <a:xfrm>
            <a:off x="620395" y="892175"/>
            <a:ext cx="79323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pt-BR" sz="4890">
                <a:latin typeface="Times New Roman"/>
                <a:ea typeface="Times New Roman"/>
                <a:cs typeface="Times New Roman"/>
                <a:sym typeface="Times New Roman"/>
              </a:rPr>
              <a:t>Referência</a:t>
            </a:r>
            <a:endParaRPr/>
          </a:p>
        </p:txBody>
      </p:sp>
      <p:sp>
        <p:nvSpPr>
          <p:cNvPr id="224" name="Google Shape;224;g3f3e75035a2_1_15"/>
          <p:cNvSpPr txBox="1"/>
          <p:nvPr/>
        </p:nvSpPr>
        <p:spPr>
          <a:xfrm>
            <a:off x="620395" y="1800225"/>
            <a:ext cx="10636200" cy="3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pt-BR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OLIVEIRA, Marcelo Eduardo de; SOUZA, Matheus Fernando Lima Zuccherelli de; LIBERA, Giovanni Polette Dalla; OLIVEIRA, Renata Lima Zuccherelli de; TECH, Adriano Rogério Bruno.          </a:t>
            </a:r>
            <a:r>
              <a:rPr b="1" i="0" lang="pt-BR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Introdução à Robótica Educacional com Arduino – Hands On!: Iniciante</a:t>
            </a:r>
            <a:r>
              <a:rPr b="0" i="0" lang="pt-BR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Pirassununga: Faculdade de Zootecnia e Engenharia de Alimentos da USP, 2020. Disponível em: &lt;https://www.livrosabertos.abcd.usp.br/portaldelivrosUSP/catalog/book/483&gt;. Acesso em: 21 mar. 2025.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0"/>
          <p:cNvSpPr/>
          <p:nvPr/>
        </p:nvSpPr>
        <p:spPr>
          <a:xfrm>
            <a:off x="0" y="0"/>
            <a:ext cx="12192635" cy="332105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F0E6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0" y="0"/>
            <a:ext cx="11519535" cy="332105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4561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2" name="Google Shape;23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06440" y="1915160"/>
            <a:ext cx="2335530" cy="3027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10"/>
          <p:cNvPicPr preferRelativeResize="0"/>
          <p:nvPr/>
        </p:nvPicPr>
        <p:blipFill rotWithShape="1">
          <a:blip r:embed="rId4">
            <a:alphaModFix/>
          </a:blip>
          <a:srcRect b="-4341" l="-1229" r="69262" t="-2791"/>
          <a:stretch/>
        </p:blipFill>
        <p:spPr>
          <a:xfrm>
            <a:off x="8963660" y="2051050"/>
            <a:ext cx="1892935" cy="17964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10"/>
          <p:cNvPicPr preferRelativeResize="0"/>
          <p:nvPr/>
        </p:nvPicPr>
        <p:blipFill rotWithShape="1">
          <a:blip r:embed="rId4">
            <a:alphaModFix/>
          </a:blip>
          <a:srcRect b="-5708" l="32768" r="-8782" t="5708"/>
          <a:stretch/>
        </p:blipFill>
        <p:spPr>
          <a:xfrm>
            <a:off x="7987030" y="3698875"/>
            <a:ext cx="3846195" cy="1459865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0"/>
          <p:cNvSpPr txBox="1"/>
          <p:nvPr>
            <p:ph type="ctrTitle"/>
          </p:nvPr>
        </p:nvSpPr>
        <p:spPr>
          <a:xfrm>
            <a:off x="528955" y="1515110"/>
            <a:ext cx="5185410" cy="28073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pt-BR" sz="4800">
                <a:latin typeface="Arial"/>
                <a:ea typeface="Arial"/>
                <a:cs typeface="Arial"/>
                <a:sym typeface="Arial"/>
              </a:rPr>
              <a:t>Agradecemos pela atenção!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2025-03-28T17:09:35Z</dcterms:created>
  <dc:creator>Isaque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1046-12.2.0.20326</vt:lpwstr>
  </property>
  <property fmtid="{D5CDD505-2E9C-101B-9397-08002B2CF9AE}" pid="3" name="ICV">
    <vt:lpwstr>FB10A6FDB81D4AC0B9C0F7C5A6FD39F0_11</vt:lpwstr>
  </property>
</Properties>
</file>