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+JTXALMiXK5TozR/dIz6r7mVb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59776d38_0_31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759776d38_0_31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759776d38_0_31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59776d38_0_33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f759776d38_0_33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f759776d38_0_33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759776d38_0_34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f759776d38_0_34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f759776d38_0_34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759776d38_0_47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f759776d38_0_47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f759776d38_0_47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59776d38_0_355:notes"/>
          <p:cNvSpPr/>
          <p:nvPr>
            <p:ph idx="2" type="sldImg"/>
          </p:nvPr>
        </p:nvSpPr>
        <p:spPr>
          <a:xfrm>
            <a:off x="482622" y="1279566"/>
            <a:ext cx="61407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759776d38_0_355:notes"/>
          <p:cNvSpPr txBox="1"/>
          <p:nvPr>
            <p:ph idx="1" type="body"/>
          </p:nvPr>
        </p:nvSpPr>
        <p:spPr>
          <a:xfrm>
            <a:off x="711233" y="4926169"/>
            <a:ext cx="56835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f759776d38_0_355:notes"/>
          <p:cNvSpPr txBox="1"/>
          <p:nvPr>
            <p:ph idx="12" type="sldNum"/>
          </p:nvPr>
        </p:nvSpPr>
        <p:spPr>
          <a:xfrm>
            <a:off x="4024497" y="9722159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759776d38_0_365:notes"/>
          <p:cNvSpPr/>
          <p:nvPr>
            <p:ph idx="2" type="sldImg"/>
          </p:nvPr>
        </p:nvSpPr>
        <p:spPr>
          <a:xfrm>
            <a:off x="482622" y="1279566"/>
            <a:ext cx="61407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759776d38_0_365:notes"/>
          <p:cNvSpPr txBox="1"/>
          <p:nvPr>
            <p:ph idx="1" type="body"/>
          </p:nvPr>
        </p:nvSpPr>
        <p:spPr>
          <a:xfrm>
            <a:off x="711233" y="4926169"/>
            <a:ext cx="56835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f759776d38_0_365:notes"/>
          <p:cNvSpPr txBox="1"/>
          <p:nvPr>
            <p:ph idx="12" type="sldNum"/>
          </p:nvPr>
        </p:nvSpPr>
        <p:spPr>
          <a:xfrm>
            <a:off x="4024497" y="9722159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759776d38_0_377:notes"/>
          <p:cNvSpPr/>
          <p:nvPr>
            <p:ph idx="2" type="sldImg"/>
          </p:nvPr>
        </p:nvSpPr>
        <p:spPr>
          <a:xfrm>
            <a:off x="482622" y="1279566"/>
            <a:ext cx="61407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f759776d38_0_377:notes"/>
          <p:cNvSpPr txBox="1"/>
          <p:nvPr>
            <p:ph idx="1" type="body"/>
          </p:nvPr>
        </p:nvSpPr>
        <p:spPr>
          <a:xfrm>
            <a:off x="711233" y="4926169"/>
            <a:ext cx="56835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f759776d38_0_377:notes"/>
          <p:cNvSpPr txBox="1"/>
          <p:nvPr>
            <p:ph idx="12" type="sldNum"/>
          </p:nvPr>
        </p:nvSpPr>
        <p:spPr>
          <a:xfrm>
            <a:off x="4024497" y="9722159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759776d38_0_389:notes"/>
          <p:cNvSpPr/>
          <p:nvPr>
            <p:ph idx="2" type="sldImg"/>
          </p:nvPr>
        </p:nvSpPr>
        <p:spPr>
          <a:xfrm>
            <a:off x="482622" y="1279566"/>
            <a:ext cx="61407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f759776d38_0_389:notes"/>
          <p:cNvSpPr txBox="1"/>
          <p:nvPr>
            <p:ph idx="1" type="body"/>
          </p:nvPr>
        </p:nvSpPr>
        <p:spPr>
          <a:xfrm>
            <a:off x="711233" y="4926169"/>
            <a:ext cx="56835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f759776d38_0_389:notes"/>
          <p:cNvSpPr txBox="1"/>
          <p:nvPr>
            <p:ph idx="12" type="sldNum"/>
          </p:nvPr>
        </p:nvSpPr>
        <p:spPr>
          <a:xfrm>
            <a:off x="4024497" y="9722159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39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39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80fddaaa7_0_18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c80fddaaa7_0_18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c80fddaaa7_0_18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40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40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4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24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3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3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" name="Google Shape;20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3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35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759776d38_0_47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f759776d38_0_47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g3f759776d38_0_4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arduino.cc/en/software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753825" y="500500"/>
            <a:ext cx="106713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Times New Roman"/>
              <a:buNone/>
            </a:pP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Universidade Estadual de Santa Cruz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Times New Roman"/>
              <a:buNone/>
            </a:pP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Programa de Iniciaç</a:t>
            </a: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ão à Docência - PID, Edital N° 54/2025</a:t>
            </a:r>
            <a:b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Ciência da Computação</a:t>
            </a:r>
            <a:endParaRPr sz="2400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025" y="500507"/>
            <a:ext cx="842772" cy="109240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5271770" y="5972810"/>
            <a:ext cx="16478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463675" y="2574291"/>
            <a:ext cx="4527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61296" t="0"/>
          <a:stretch/>
        </p:blipFill>
        <p:spPr>
          <a:xfrm>
            <a:off x="563245" y="553720"/>
            <a:ext cx="1022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-5710" l="32771" r="-8788" t="5710"/>
          <a:stretch/>
        </p:blipFill>
        <p:spPr>
          <a:xfrm>
            <a:off x="76200" y="1315720"/>
            <a:ext cx="1808480" cy="68643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2113275" y="2302650"/>
            <a:ext cx="79524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de ensino</a:t>
            </a:r>
            <a:r>
              <a:rPr lang="pt-BR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4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Atividades Maker para Alunos do Ensino Médio</a:t>
            </a:r>
            <a:br>
              <a:rPr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800">
                <a:latin typeface="Times New Roman"/>
                <a:ea typeface="Times New Roman"/>
                <a:cs typeface="Times New Roman"/>
                <a:sym typeface="Times New Roman"/>
              </a:rPr>
              <a:t>Introdução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113275" y="4421850"/>
            <a:ext cx="8286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Autor: Isaque Silva Passos Ribeiro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Colaborador: Ronaldo Ribeiro Porto Filho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59776d38_0_319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759776d38_0_319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759776d38_0_319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f759776d38_0_319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759776d38_0_319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3"/>
              <a:buFont typeface="Times New Roman"/>
              <a:buNone/>
            </a:pPr>
            <a:r>
              <a:rPr b="0" i="0" lang="pt-BR" sz="48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b="0" i="0" sz="48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f759776d38_0_319"/>
          <p:cNvSpPr txBox="1"/>
          <p:nvPr/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759776d38_0_319"/>
          <p:cNvSpPr txBox="1"/>
          <p:nvPr/>
        </p:nvSpPr>
        <p:spPr>
          <a:xfrm>
            <a:off x="620395" y="1701148"/>
            <a:ext cx="11000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O Arduino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Protoboard: A placa de ensaio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pt-BR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esistores</a:t>
            </a: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 e LEDs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Arduino IDE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" name="Google Shape;107;g3f759776d38_0_319"/>
          <p:cNvCxnSpPr/>
          <p:nvPr/>
        </p:nvCxnSpPr>
        <p:spPr>
          <a:xfrm flipH="1">
            <a:off x="4049850" y="3083073"/>
            <a:ext cx="6283200" cy="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8" name="Google Shape;108;g3f759776d38_0_319"/>
          <p:cNvCxnSpPr/>
          <p:nvPr/>
        </p:nvCxnSpPr>
        <p:spPr>
          <a:xfrm>
            <a:off x="2825125" y="2130187"/>
            <a:ext cx="7541700" cy="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9" name="Google Shape;109;g3f759776d38_0_319"/>
          <p:cNvCxnSpPr/>
          <p:nvPr/>
        </p:nvCxnSpPr>
        <p:spPr>
          <a:xfrm>
            <a:off x="3233350" y="3578518"/>
            <a:ext cx="7134000" cy="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0" name="Google Shape;110;g3f759776d38_0_319"/>
          <p:cNvCxnSpPr/>
          <p:nvPr/>
        </p:nvCxnSpPr>
        <p:spPr>
          <a:xfrm>
            <a:off x="5954850" y="2596533"/>
            <a:ext cx="4378200" cy="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11" name="Google Shape;111;g3f759776d38_0_319"/>
          <p:cNvSpPr txBox="1"/>
          <p:nvPr/>
        </p:nvSpPr>
        <p:spPr>
          <a:xfrm>
            <a:off x="10367065" y="1707194"/>
            <a:ext cx="6393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759776d38_0_335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759776d38_0_33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759776d38_0_335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759776d38_0_335"/>
          <p:cNvSpPr txBox="1"/>
          <p:nvPr/>
        </p:nvSpPr>
        <p:spPr>
          <a:xfrm>
            <a:off x="748650" y="1603417"/>
            <a:ext cx="58539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é uma placa eletrônica composta por um microcontrolador, saídas digitais e analógicas, e uma interface de comunicação (USB) para enviar e receb</a:t>
            </a:r>
            <a:r>
              <a:rPr lang="pt-BR" sz="2800">
                <a:latin typeface="Times New Roman"/>
                <a:ea typeface="Times New Roman"/>
                <a:cs typeface="Times New Roman"/>
                <a:sym typeface="Times New Roman"/>
              </a:rPr>
              <a:t>er</a:t>
            </a: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dados.</a:t>
            </a:r>
            <a:endParaRPr b="0" i="0" sz="2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Além disso, ele também é uma plataforma de código aberto, possuindo um ambiente de desenvolvimento integrado (IDE) para escrever seus programas e enviá-los à placa.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g3f759776d38_0_3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3764" y="1389576"/>
            <a:ext cx="4627226" cy="408203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759776d38_0_335"/>
          <p:cNvSpPr txBox="1"/>
          <p:nvPr/>
        </p:nvSpPr>
        <p:spPr>
          <a:xfrm>
            <a:off x="748645" y="474525"/>
            <a:ext cx="8250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90">
                <a:latin typeface="Times New Roman"/>
                <a:ea typeface="Times New Roman"/>
                <a:cs typeface="Times New Roman"/>
                <a:sym typeface="Times New Roman"/>
              </a:rPr>
              <a:t>Arduino</a:t>
            </a:r>
            <a:endParaRPr sz="48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759776d38_0_345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f759776d38_0_34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759776d38_0_345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759776d38_0_345"/>
          <p:cNvSpPr txBox="1"/>
          <p:nvPr/>
        </p:nvSpPr>
        <p:spPr>
          <a:xfrm>
            <a:off x="748652" y="1593909"/>
            <a:ext cx="69789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 análogo a um “cérebro” que controla coisas no mundo real, como luzes, motores e sensores.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Você programa (via computador) o que ele deve fazer;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Ex.: </a:t>
            </a:r>
            <a:r>
              <a:rPr b="0" i="1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"Acenda o LED quando o botão for pressionado"</a:t>
            </a: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 executa o comando, ligando/desligando seus pinos elétricos.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f759776d38_0_3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3764" y="1389576"/>
            <a:ext cx="4627226" cy="408203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759776d38_0_345"/>
          <p:cNvSpPr txBox="1"/>
          <p:nvPr/>
        </p:nvSpPr>
        <p:spPr>
          <a:xfrm>
            <a:off x="748645" y="474525"/>
            <a:ext cx="8250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90">
                <a:latin typeface="Times New Roman"/>
                <a:ea typeface="Times New Roman"/>
                <a:cs typeface="Times New Roman"/>
                <a:sym typeface="Times New Roman"/>
              </a:rPr>
              <a:t>Arduino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759776d38_0_476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759776d38_0_476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759776d38_0_476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759776d38_0_476"/>
          <p:cNvSpPr txBox="1"/>
          <p:nvPr/>
        </p:nvSpPr>
        <p:spPr>
          <a:xfrm>
            <a:off x="6630675" y="883594"/>
            <a:ext cx="50982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Pinos Digitais (0 a 13): 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Entrada ou saída de sinais digitais (ex: sensores, LEDs). Alguns suportam PWM* (~);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Pinos Analógicos (A0 a A5)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Leitura de sinais variáveis (0 a 5V), como sensores analógicos;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Alimentação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Porta USB: Usada para programar a placa e fornecer energia.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g3f759776d38_0_4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118" y="1208164"/>
            <a:ext cx="6054453" cy="44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f759776d38_0_476"/>
          <p:cNvSpPr txBox="1"/>
          <p:nvPr/>
        </p:nvSpPr>
        <p:spPr>
          <a:xfrm>
            <a:off x="224125" y="5932475"/>
            <a:ext cx="1129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PWM (Pulse Width Modulation)*: </a:t>
            </a:r>
            <a:r>
              <a:rPr lang="pt-BR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Técnica eletrônica que controla a quantidade de energia enviada a um dispositivo, variando a largura dos pulsos de um sinal digital (liga/desliga) em alta frequência, permitindo regular fatores com mais precisão.</a:t>
            </a:r>
            <a:endParaRPr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5" name="Google Shape;145;g3f759776d38_0_476"/>
          <p:cNvCxnSpPr/>
          <p:nvPr/>
        </p:nvCxnSpPr>
        <p:spPr>
          <a:xfrm rot="10800000">
            <a:off x="6479450" y="3025525"/>
            <a:ext cx="13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g3f759776d38_0_476"/>
          <p:cNvCxnSpPr/>
          <p:nvPr/>
        </p:nvCxnSpPr>
        <p:spPr>
          <a:xfrm>
            <a:off x="6479544" y="3025519"/>
            <a:ext cx="17100" cy="276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g3f759776d38_0_476"/>
          <p:cNvCxnSpPr/>
          <p:nvPr/>
        </p:nvCxnSpPr>
        <p:spPr>
          <a:xfrm>
            <a:off x="4655675" y="5517925"/>
            <a:ext cx="0" cy="11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g3f759776d38_0_476"/>
          <p:cNvCxnSpPr/>
          <p:nvPr/>
        </p:nvCxnSpPr>
        <p:spPr>
          <a:xfrm>
            <a:off x="5760575" y="5515866"/>
            <a:ext cx="0" cy="11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g3f759776d38_0_476"/>
          <p:cNvCxnSpPr/>
          <p:nvPr/>
        </p:nvCxnSpPr>
        <p:spPr>
          <a:xfrm>
            <a:off x="4655675" y="5631050"/>
            <a:ext cx="110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g3f759776d38_0_476"/>
          <p:cNvCxnSpPr/>
          <p:nvPr/>
        </p:nvCxnSpPr>
        <p:spPr>
          <a:xfrm>
            <a:off x="5204852" y="5631055"/>
            <a:ext cx="900" cy="16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g3f759776d38_0_476"/>
          <p:cNvCxnSpPr/>
          <p:nvPr/>
        </p:nvCxnSpPr>
        <p:spPr>
          <a:xfrm flipH="1">
            <a:off x="5202318" y="5785493"/>
            <a:ext cx="1289700" cy="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g3f759776d38_0_476"/>
          <p:cNvCxnSpPr/>
          <p:nvPr/>
        </p:nvCxnSpPr>
        <p:spPr>
          <a:xfrm rot="10800000">
            <a:off x="3011350" y="1248117"/>
            <a:ext cx="1200" cy="10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g3f759776d38_0_476"/>
          <p:cNvCxnSpPr/>
          <p:nvPr/>
        </p:nvCxnSpPr>
        <p:spPr>
          <a:xfrm rot="10800000">
            <a:off x="5815033" y="1254001"/>
            <a:ext cx="0" cy="11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g3f759776d38_0_476"/>
          <p:cNvCxnSpPr/>
          <p:nvPr/>
        </p:nvCxnSpPr>
        <p:spPr>
          <a:xfrm>
            <a:off x="3012550" y="1250430"/>
            <a:ext cx="280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g3f759776d38_0_476"/>
          <p:cNvCxnSpPr/>
          <p:nvPr/>
        </p:nvCxnSpPr>
        <p:spPr>
          <a:xfrm rot="10800000">
            <a:off x="4404591" y="1140925"/>
            <a:ext cx="900" cy="10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g3f759776d38_0_476"/>
          <p:cNvCxnSpPr/>
          <p:nvPr/>
        </p:nvCxnSpPr>
        <p:spPr>
          <a:xfrm rot="10800000">
            <a:off x="4399000" y="1143100"/>
            <a:ext cx="22629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g3f759776d38_0_476"/>
          <p:cNvSpPr txBox="1"/>
          <p:nvPr/>
        </p:nvSpPr>
        <p:spPr>
          <a:xfrm>
            <a:off x="748645" y="474525"/>
            <a:ext cx="8250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90">
                <a:latin typeface="Times New Roman"/>
                <a:ea typeface="Times New Roman"/>
                <a:cs typeface="Times New Roman"/>
                <a:sym typeface="Times New Roman"/>
              </a:rPr>
              <a:t>Arduino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59776d38_0_355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759776d38_0_35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759776d38_0_355"/>
          <p:cNvSpPr txBox="1"/>
          <p:nvPr/>
        </p:nvSpPr>
        <p:spPr>
          <a:xfrm>
            <a:off x="7520305" y="1551305"/>
            <a:ext cx="36126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Funciona com furos ligados uns nos outros por dentro, onde existem “caminhos” metálicos para que você faça ligações elétricas temporárias usando fios.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Fios e peças estão conectados uns nos outros se estão na mesma linha vertical.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g3f759776d38_0_3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370" y="1558925"/>
            <a:ext cx="7353935" cy="482346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f759776d38_0_355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759776d38_0_355"/>
          <p:cNvSpPr txBox="1"/>
          <p:nvPr/>
        </p:nvSpPr>
        <p:spPr>
          <a:xfrm>
            <a:off x="748645" y="474525"/>
            <a:ext cx="8250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90">
                <a:latin typeface="Times New Roman"/>
                <a:ea typeface="Times New Roman"/>
                <a:cs typeface="Times New Roman"/>
                <a:sym typeface="Times New Roman"/>
              </a:rPr>
              <a:t>Protoboard: a placa de ensaio</a:t>
            </a:r>
            <a:endParaRPr sz="48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59776d38_0_365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759776d38_0_36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759776d38_0_365"/>
          <p:cNvSpPr/>
          <p:nvPr/>
        </p:nvSpPr>
        <p:spPr>
          <a:xfrm>
            <a:off x="596950" y="3974475"/>
            <a:ext cx="2075100" cy="165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f759776d38_0_3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650" y="1899153"/>
            <a:ext cx="5510100" cy="357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f759776d38_0_365"/>
          <p:cNvSpPr txBox="1"/>
          <p:nvPr/>
        </p:nvSpPr>
        <p:spPr>
          <a:xfrm>
            <a:off x="630975" y="5675382"/>
            <a:ext cx="86235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LED										      	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f759776d38_0_365"/>
          <p:cNvSpPr txBox="1"/>
          <p:nvPr/>
        </p:nvSpPr>
        <p:spPr>
          <a:xfrm>
            <a:off x="6630675" y="1655532"/>
            <a:ext cx="47499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LEDs são diodos emissores de luz (Light emissor diode).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São componentes sensíveis, e por isso, geralmente deve ser adicionado com um resistor para que não sofra sobrecarga.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f759776d38_0_365"/>
          <p:cNvSpPr txBox="1"/>
          <p:nvPr/>
        </p:nvSpPr>
        <p:spPr>
          <a:xfrm>
            <a:off x="748645" y="474525"/>
            <a:ext cx="8250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90">
                <a:latin typeface="Times New Roman"/>
                <a:ea typeface="Times New Roman"/>
                <a:cs typeface="Times New Roman"/>
                <a:sym typeface="Times New Roman"/>
              </a:rPr>
              <a:t>Resistores e LEDs</a:t>
            </a:r>
            <a:endParaRPr sz="48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f759776d38_0_365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759776d38_0_377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759776d38_0_377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759776d38_0_377"/>
          <p:cNvSpPr/>
          <p:nvPr/>
        </p:nvSpPr>
        <p:spPr>
          <a:xfrm>
            <a:off x="596950" y="3974475"/>
            <a:ext cx="2075100" cy="165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g3f759776d38_0_3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1650" y="937184"/>
            <a:ext cx="4956620" cy="49566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f759776d38_0_377"/>
          <p:cNvSpPr txBox="1"/>
          <p:nvPr/>
        </p:nvSpPr>
        <p:spPr>
          <a:xfrm>
            <a:off x="748650" y="1604500"/>
            <a:ext cx="5851500" cy="5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resistor é um componente que limita ou controla o fluxo de uma corrente elétrica em um circuito, barrando a passagem dos elétrons.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escala de resistência é medida em Ohms (</a:t>
            </a:r>
            <a:r>
              <a:rPr lang="pt-BR" sz="2800">
                <a:solidFill>
                  <a:srgbClr val="101418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Ω) e pode ser identificada a partir da coloração de suas faixas.</a:t>
            </a:r>
            <a:endParaRPr sz="2800">
              <a:solidFill>
                <a:srgbClr val="101418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101418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>
                <a:solidFill>
                  <a:srgbClr val="101418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Resistores também reduzem a tensão e convertem a energia elétrica em calor.</a:t>
            </a:r>
            <a:endParaRPr sz="2800">
              <a:solidFill>
                <a:srgbClr val="101418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g3f759776d38_0_377"/>
          <p:cNvSpPr txBox="1"/>
          <p:nvPr/>
        </p:nvSpPr>
        <p:spPr>
          <a:xfrm>
            <a:off x="6696900" y="5612525"/>
            <a:ext cx="4248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Resistor 10K</a:t>
            </a:r>
            <a:r>
              <a:rPr lang="pt-BR" sz="2800">
                <a:solidFill>
                  <a:srgbClr val="101418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Ω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759776d38_0_377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759776d38_0_377"/>
          <p:cNvSpPr txBox="1"/>
          <p:nvPr/>
        </p:nvSpPr>
        <p:spPr>
          <a:xfrm>
            <a:off x="748645" y="474525"/>
            <a:ext cx="8250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90">
                <a:latin typeface="Times New Roman"/>
                <a:ea typeface="Times New Roman"/>
                <a:cs typeface="Times New Roman"/>
                <a:sym typeface="Times New Roman"/>
              </a:rPr>
              <a:t>Resistores e LEDs</a:t>
            </a:r>
            <a:endParaRPr sz="48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759776d38_0_389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759776d38_0_389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759776d38_0_389"/>
          <p:cNvSpPr txBox="1"/>
          <p:nvPr/>
        </p:nvSpPr>
        <p:spPr>
          <a:xfrm>
            <a:off x="748645" y="474525"/>
            <a:ext cx="8250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90">
                <a:latin typeface="Times New Roman"/>
                <a:ea typeface="Times New Roman"/>
                <a:cs typeface="Times New Roman"/>
                <a:sym typeface="Times New Roman"/>
              </a:rPr>
              <a:t>Resistores e LEDs</a:t>
            </a:r>
            <a:endParaRPr sz="48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3f759776d38_0_389"/>
          <p:cNvSpPr/>
          <p:nvPr/>
        </p:nvSpPr>
        <p:spPr>
          <a:xfrm>
            <a:off x="596950" y="3974475"/>
            <a:ext cx="2075100" cy="165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g3f759776d38_0_3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225" y="1158974"/>
            <a:ext cx="3382549" cy="33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f759776d38_0_3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50" y="1158980"/>
            <a:ext cx="7273829" cy="547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f759776d38_0_389"/>
          <p:cNvSpPr txBox="1"/>
          <p:nvPr/>
        </p:nvSpPr>
        <p:spPr>
          <a:xfrm>
            <a:off x="7942001" y="4264595"/>
            <a:ext cx="3705000" cy="224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800">
                <a:solidFill>
                  <a:srgbClr val="7F4B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1" lang="pt-BR" sz="2800">
                <a:solidFill>
                  <a:schemeClr val="accent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1K</a:t>
            </a:r>
            <a:r>
              <a:rPr lang="pt-BR" sz="2800">
                <a:solidFill>
                  <a:schemeClr val="accent2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Ω</a:t>
            </a:r>
            <a:r>
              <a:rPr b="1" lang="pt-BR" sz="2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b="1"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10K</a:t>
            </a:r>
            <a:r>
              <a:rPr b="1" lang="pt-BR" sz="2800">
                <a:solidFill>
                  <a:srgbClr val="101418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Ω</a:t>
            </a:r>
            <a:r>
              <a:rPr b="1" lang="pt-BR" sz="2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Resistor de </a:t>
            </a:r>
            <a:r>
              <a:rPr b="1"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10K</a:t>
            </a:r>
            <a:r>
              <a:rPr b="1" lang="pt-BR" sz="2800">
                <a:solidFill>
                  <a:srgbClr val="101418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Ω</a:t>
            </a:r>
            <a:r>
              <a:rPr lang="pt-BR" sz="2800">
                <a:solidFill>
                  <a:srgbClr val="101418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com </a:t>
            </a:r>
            <a:r>
              <a:rPr b="1" lang="pt-BR" sz="2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±5%</a:t>
            </a:r>
            <a:r>
              <a:rPr b="1" lang="pt-BR" sz="2800">
                <a:solidFill>
                  <a:schemeClr val="accent4"/>
                </a:solidFill>
                <a:highlight>
                  <a:schemeClr val="lt1"/>
                </a:highlight>
              </a:rPr>
              <a:t> </a:t>
            </a:r>
            <a:r>
              <a:rPr lang="pt-BR" sz="2800">
                <a:solidFill>
                  <a:schemeClr val="dk1"/>
                </a:solidFill>
                <a:highlight>
                  <a:schemeClr val="lt1"/>
                </a:highlight>
              </a:rPr>
              <a:t>de tolerância (faixa dourada).</a:t>
            </a:r>
            <a:endParaRPr sz="2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07" name="Google Shape;207;g3f759776d38_0_389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9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9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9"/>
          <p:cNvSpPr txBox="1"/>
          <p:nvPr/>
        </p:nvSpPr>
        <p:spPr>
          <a:xfrm>
            <a:off x="748650" y="1608925"/>
            <a:ext cx="61752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Arduino IDE </a:t>
            </a:r>
            <a:r>
              <a:rPr lang="pt-BR" sz="2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—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 inglês, “Integrated Development 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</a:t>
            </a:r>
            <a:r>
              <a:rPr lang="pt-BR" sz="2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—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é um ambiente de desenvolvimento integrado específico para trabalhar com placas arduino.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download do software pode ser feito em: </a:t>
            </a:r>
            <a:r>
              <a:rPr lang="pt-BR" sz="2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https://www.arduino.cc/en/software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9"/>
          <p:cNvSpPr txBox="1"/>
          <p:nvPr/>
        </p:nvSpPr>
        <p:spPr>
          <a:xfrm>
            <a:off x="748652" y="474524"/>
            <a:ext cx="617508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IDE</a:t>
            </a:r>
            <a:endParaRPr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8" name="Google Shape;21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9649" y="2408872"/>
            <a:ext cx="3776425" cy="2552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80fddaaa7_0_187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c80fddaaa7_0_187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c80fddaaa7_0_187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c80fddaaa7_0_187"/>
          <p:cNvSpPr txBox="1"/>
          <p:nvPr/>
        </p:nvSpPr>
        <p:spPr>
          <a:xfrm>
            <a:off x="748650" y="1608925"/>
            <a:ext cx="65373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Faça o download da 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IDE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Conecte o cabo USB A/B no Arduino e no 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computador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Abra a 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IDE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Selecione a porta correta e o modelo Arduino UNO em "Ferramentas".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c80fddaaa7_0_187"/>
          <p:cNvSpPr txBox="1"/>
          <p:nvPr/>
        </p:nvSpPr>
        <p:spPr>
          <a:xfrm>
            <a:off x="748652" y="474524"/>
            <a:ext cx="617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IDE</a:t>
            </a:r>
            <a:endParaRPr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g3c80fddaaa7_0_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550" y="1650650"/>
            <a:ext cx="4103375" cy="410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c80fddaaa7_0_187"/>
          <p:cNvSpPr txBox="1"/>
          <p:nvPr/>
        </p:nvSpPr>
        <p:spPr>
          <a:xfrm>
            <a:off x="7570088" y="1650650"/>
            <a:ext cx="433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USB A/B 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0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0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0"/>
          <p:cNvSpPr txBox="1"/>
          <p:nvPr/>
        </p:nvSpPr>
        <p:spPr>
          <a:xfrm>
            <a:off x="748652" y="474524"/>
            <a:ext cx="617508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</a:t>
            </a:r>
            <a:r>
              <a:rPr lang="pt-BR" sz="4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pt-BR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</a:t>
            </a:r>
            <a:endParaRPr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0" name="Google Shape;24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6395" y="1608924"/>
            <a:ext cx="5602230" cy="414441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0"/>
          <p:cNvSpPr txBox="1"/>
          <p:nvPr/>
        </p:nvSpPr>
        <p:spPr>
          <a:xfrm>
            <a:off x="748650" y="1608925"/>
            <a:ext cx="53475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Pode ser que a IDE peça para você instalar alguns drivers para o funcionamento apropriado. Após a instalação, é recomendável reiniciar seu computador.</a:t>
            </a:r>
            <a:b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executar um código, clique em “verify” ou “compile” 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(verificar/compilar) 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depois em “upload”.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620395" y="1630136"/>
            <a:ext cx="10636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OLIVEIRA, Marcelo Eduardo de; SOUZA, Matheus Fernando Lima Zuccherelli de; LIBERA, Giovanni Polette Dalla; OLIVEIRA, Renata Lima Zuccherelli de; TECH, Adriano Rogério Bruno.          </a:t>
            </a:r>
            <a:r>
              <a:rPr b="1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à Robótica Educacional com Arduino – Hands On!: Iniciante</a:t>
            </a: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Pirassununga: Faculdade de Zootecnia e Engenharia de Alimentos da USP, 2020. Disponível em: &lt;https://www.livrosabertos.abcd.usp.br/portaldelivrosUSP/catalog/book/483&gt;. Acesso em: 2</a:t>
            </a:r>
            <a:r>
              <a:rPr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b="0" i="0" lang="pt-B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2025.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Referência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915160"/>
            <a:ext cx="2335530" cy="302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/>
          <p:cNvPicPr preferRelativeResize="0"/>
          <p:nvPr/>
        </p:nvPicPr>
        <p:blipFill rotWithShape="1">
          <a:blip r:embed="rId4">
            <a:alphaModFix/>
          </a:blip>
          <a:srcRect b="-4340" l="-1229" r="69262" t="-2791"/>
          <a:stretch/>
        </p:blipFill>
        <p:spPr>
          <a:xfrm>
            <a:off x="8963660" y="2051050"/>
            <a:ext cx="1892935" cy="179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/>
          <p:cNvPicPr preferRelativeResize="0"/>
          <p:nvPr/>
        </p:nvPicPr>
        <p:blipFill rotWithShape="1">
          <a:blip r:embed="rId4">
            <a:alphaModFix/>
          </a:blip>
          <a:srcRect b="-5708" l="32768" r="-8782" t="5708"/>
          <a:stretch/>
        </p:blipFill>
        <p:spPr>
          <a:xfrm>
            <a:off x="7987030" y="3698875"/>
            <a:ext cx="3846195" cy="145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>
            <p:ph type="ctrTitle"/>
          </p:nvPr>
        </p:nvSpPr>
        <p:spPr>
          <a:xfrm>
            <a:off x="528955" y="1515110"/>
            <a:ext cx="5185410" cy="2807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pt-BR" sz="4800">
                <a:latin typeface="Times New Roman"/>
                <a:ea typeface="Times New Roman"/>
                <a:cs typeface="Times New Roman"/>
                <a:sym typeface="Times New Roman"/>
              </a:rPr>
              <a:t>Agradecemos pela atenção!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2025-03-28T17:09:35Z</dcterms:created>
  <dc:creator>Isaque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1046-12.2.0.20326</vt:lpwstr>
  </property>
  <property fmtid="{D5CDD505-2E9C-101B-9397-08002B2CF9AE}" pid="3" name="ICV">
    <vt:lpwstr>FB10A6FDB81D4AC0B9C0F7C5A6FD39F0_11</vt:lpwstr>
  </property>
</Properties>
</file>