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7104050" cy="102346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ikchhR5/koiUy50EtnQDWORmqZ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9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Play-regular.fntdata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font" Target="fonts/Play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3e7630dee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3e7630dee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f3e7630dee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3e7630dee_0_41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f3e7630dee_0_41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f3e7630dee_0_41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3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3e7630dee_0_49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f3e7630dee_0_49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f3e7630dee_0_49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3e7630dee_0_17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f3e7630dee_0_17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f3e7630dee_0_17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8" name="Google Shape;88;p25"/>
          <p:cNvSpPr txBox="1"/>
          <p:nvPr>
            <p:ph idx="1" type="body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3e7630dee_0_437"/>
          <p:cNvSpPr txBox="1"/>
          <p:nvPr>
            <p:ph type="ctrTitle"/>
          </p:nvPr>
        </p:nvSpPr>
        <p:spPr>
          <a:xfrm>
            <a:off x="1524000" y="1322962"/>
            <a:ext cx="9144000" cy="218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f3e7630dee_0_43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f3e7630dee_0_43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f3e7630dee_0_4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0" name="Google Shape;100;g3f3e7630dee_0_437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3e7630dee_0_443"/>
          <p:cNvSpPr txBox="1"/>
          <p:nvPr>
            <p:ph type="title"/>
          </p:nvPr>
        </p:nvSpPr>
        <p:spPr>
          <a:xfrm>
            <a:off x="647700" y="25844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f3e7630dee_0_443"/>
          <p:cNvSpPr txBox="1"/>
          <p:nvPr>
            <p:ph idx="1" type="body"/>
          </p:nvPr>
        </p:nvSpPr>
        <p:spPr>
          <a:xfrm>
            <a:off x="6477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g3f3e7630dee_0_44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3f3e7630dee_0_44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f3e7630dee_0_4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3e7630dee_0_449"/>
          <p:cNvSpPr txBox="1"/>
          <p:nvPr>
            <p:ph type="title"/>
          </p:nvPr>
        </p:nvSpPr>
        <p:spPr>
          <a:xfrm>
            <a:off x="831850" y="3750945"/>
            <a:ext cx="98430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3f3e7630dee_0_449"/>
          <p:cNvSpPr txBox="1"/>
          <p:nvPr>
            <p:ph idx="1" type="body"/>
          </p:nvPr>
        </p:nvSpPr>
        <p:spPr>
          <a:xfrm>
            <a:off x="831850" y="4610028"/>
            <a:ext cx="7321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g3f3e7630dee_0_44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3f3e7630dee_0_44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f3e7630dee_0_4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3e7630dee_0_455"/>
          <p:cNvSpPr txBox="1"/>
          <p:nvPr>
            <p:ph type="title"/>
          </p:nvPr>
        </p:nvSpPr>
        <p:spPr>
          <a:xfrm>
            <a:off x="647700" y="25844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f3e7630dee_0_455"/>
          <p:cNvSpPr txBox="1"/>
          <p:nvPr>
            <p:ph idx="1" type="body"/>
          </p:nvPr>
        </p:nvSpPr>
        <p:spPr>
          <a:xfrm>
            <a:off x="6477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g3f3e7630dee_0_455"/>
          <p:cNvSpPr txBox="1"/>
          <p:nvPr>
            <p:ph idx="2" type="body"/>
          </p:nvPr>
        </p:nvSpPr>
        <p:spPr>
          <a:xfrm>
            <a:off x="59817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g3f3e7630dee_0_45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f3e7630dee_0_45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f3e7630dee_0_4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3e7630dee_0_462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f3e7630dee_0_462"/>
          <p:cNvSpPr txBox="1"/>
          <p:nvPr>
            <p:ph idx="1" type="body"/>
          </p:nvPr>
        </p:nvSpPr>
        <p:spPr>
          <a:xfrm>
            <a:off x="839788" y="1744961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3" name="Google Shape;123;g3f3e7630dee_0_462"/>
          <p:cNvSpPr txBox="1"/>
          <p:nvPr>
            <p:ph idx="2" type="body"/>
          </p:nvPr>
        </p:nvSpPr>
        <p:spPr>
          <a:xfrm>
            <a:off x="839788" y="2615609"/>
            <a:ext cx="51579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g3f3e7630dee_0_462"/>
          <p:cNvSpPr txBox="1"/>
          <p:nvPr>
            <p:ph idx="3" type="body"/>
          </p:nvPr>
        </p:nvSpPr>
        <p:spPr>
          <a:xfrm>
            <a:off x="6172200" y="1744961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g3f3e7630dee_0_462"/>
          <p:cNvSpPr txBox="1"/>
          <p:nvPr>
            <p:ph idx="4" type="body"/>
          </p:nvPr>
        </p:nvSpPr>
        <p:spPr>
          <a:xfrm>
            <a:off x="6172200" y="2615609"/>
            <a:ext cx="51831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g3f3e7630dee_0_46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f3e7630dee_0_46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f3e7630dee_0_46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3e7630dee_0_471"/>
          <p:cNvSpPr txBox="1"/>
          <p:nvPr>
            <p:ph type="title"/>
          </p:nvPr>
        </p:nvSpPr>
        <p:spPr>
          <a:xfrm>
            <a:off x="838200" y="27662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f3e7630dee_0_47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f3e7630dee_0_47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3f3e7630dee_0_47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3e7630dee_0_47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f3e7630dee_0_47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3f3e7630dee_0_4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3e7630dee_0_480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f3e7630dee_0_480"/>
          <p:cNvSpPr/>
          <p:nvPr>
            <p:ph idx="2" type="pic"/>
          </p:nvPr>
        </p:nvSpPr>
        <p:spPr>
          <a:xfrm>
            <a:off x="5184000" y="766354"/>
            <a:ext cx="5817300" cy="50943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g3f3e7630dee_0_480"/>
          <p:cNvSpPr txBox="1"/>
          <p:nvPr>
            <p:ph idx="1" type="body"/>
          </p:nvPr>
        </p:nvSpPr>
        <p:spPr>
          <a:xfrm>
            <a:off x="651827" y="2057400"/>
            <a:ext cx="41652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2" name="Google Shape;142;g3f3e7630dee_0_4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3f3e7630dee_0_4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g3f3e7630dee_0_48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3e7630dee_0_487"/>
          <p:cNvSpPr txBox="1"/>
          <p:nvPr>
            <p:ph type="title"/>
          </p:nvPr>
        </p:nvSpPr>
        <p:spPr>
          <a:xfrm rot="5400000">
            <a:off x="7683150" y="2506375"/>
            <a:ext cx="58119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f3e7630dee_0_487"/>
          <p:cNvSpPr txBox="1"/>
          <p:nvPr>
            <p:ph idx="1" type="body"/>
          </p:nvPr>
        </p:nvSpPr>
        <p:spPr>
          <a:xfrm rot="5400000">
            <a:off x="2372208" y="-1168925"/>
            <a:ext cx="5811900" cy="88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g3f3e7630dee_0_48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f3e7630dee_0_48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3f3e7630dee_0_48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3e7630dee_0_49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f3e7630dee_0_49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f3e7630dee_0_49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5" name="Google Shape;155;g3f3e7630dee_0_493"/>
          <p:cNvSpPr txBox="1"/>
          <p:nvPr>
            <p:ph idx="1" type="body"/>
          </p:nvPr>
        </p:nvSpPr>
        <p:spPr>
          <a:xfrm>
            <a:off x="838200" y="551543"/>
            <a:ext cx="10515600" cy="55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3e7630dee_0_4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1" name="Google Shape;91;g3f3e7630dee_0_43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g3f3e7630dee_0_43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3f3e7630dee_0_43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3f3e7630dee_0_4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3e7630dee_0_0"/>
          <p:cNvSpPr txBox="1"/>
          <p:nvPr/>
        </p:nvSpPr>
        <p:spPr>
          <a:xfrm>
            <a:off x="753825" y="500500"/>
            <a:ext cx="10671300" cy="12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Universidade Estadual de Santa Cruz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Programa de Iniciação à Docência - PID, Edital N° 54/2025</a:t>
            </a:r>
            <a:b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Ciência da Computação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g3f3e7630de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5025" y="500507"/>
            <a:ext cx="842772" cy="109240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f3e7630dee_0_0"/>
          <p:cNvSpPr txBox="1"/>
          <p:nvPr/>
        </p:nvSpPr>
        <p:spPr>
          <a:xfrm>
            <a:off x="5271770" y="5972810"/>
            <a:ext cx="164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Bahia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3e7630dee_0_0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f3e7630dee_0_0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f3e7630dee_0_0"/>
          <p:cNvSpPr/>
          <p:nvPr/>
        </p:nvSpPr>
        <p:spPr>
          <a:xfrm>
            <a:off x="1463675" y="2574291"/>
            <a:ext cx="452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g3f3e7630dee_0_0"/>
          <p:cNvPicPr preferRelativeResize="0"/>
          <p:nvPr/>
        </p:nvPicPr>
        <p:blipFill rotWithShape="1">
          <a:blip r:embed="rId4">
            <a:alphaModFix/>
          </a:blip>
          <a:srcRect b="0" l="0" r="61296" t="0"/>
          <a:stretch/>
        </p:blipFill>
        <p:spPr>
          <a:xfrm>
            <a:off x="563245" y="553720"/>
            <a:ext cx="10224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f3e7630dee_0_0"/>
          <p:cNvPicPr preferRelativeResize="0"/>
          <p:nvPr/>
        </p:nvPicPr>
        <p:blipFill rotWithShape="1">
          <a:blip r:embed="rId4">
            <a:alphaModFix/>
          </a:blip>
          <a:srcRect b="-5710" l="32771" r="-8788" t="5710"/>
          <a:stretch/>
        </p:blipFill>
        <p:spPr>
          <a:xfrm>
            <a:off x="76200" y="1315720"/>
            <a:ext cx="1808480" cy="68643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f3e7630dee_0_0"/>
          <p:cNvSpPr txBox="1"/>
          <p:nvPr/>
        </p:nvSpPr>
        <p:spPr>
          <a:xfrm>
            <a:off x="2113275" y="2302650"/>
            <a:ext cx="7952400" cy="22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Projeto de ensino</a:t>
            </a:r>
            <a:r>
              <a:rPr lang="pt-BR"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4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Atividades Maker para Alunos do Ensino Médio</a:t>
            </a:r>
            <a:br>
              <a:rPr lang="pt-BR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800">
                <a:latin typeface="Times New Roman"/>
                <a:ea typeface="Times New Roman"/>
                <a:cs typeface="Times New Roman"/>
                <a:sym typeface="Times New Roman"/>
              </a:rPr>
              <a:t>Atividade 9 - Sensor de proximidade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g3f3e7630dee_0_0"/>
          <p:cNvSpPr txBox="1"/>
          <p:nvPr/>
        </p:nvSpPr>
        <p:spPr>
          <a:xfrm>
            <a:off x="1540225" y="4421850"/>
            <a:ext cx="9112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Autor: Isaque Silva Passos Ribeiro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Colaborador(es): Olinoedson Silva Sena e Rodrigo Almeida Pirôpo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3e7630dee_0_415"/>
          <p:cNvSpPr/>
          <p:nvPr/>
        </p:nvSpPr>
        <p:spPr>
          <a:xfrm>
            <a:off x="-127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f3e7630dee_0_415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f3e7630dee_0_415"/>
          <p:cNvSpPr/>
          <p:nvPr/>
        </p:nvSpPr>
        <p:spPr>
          <a:xfrm>
            <a:off x="-127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3e7630dee_0_415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3e7630dee_0_415"/>
          <p:cNvSpPr txBox="1"/>
          <p:nvPr/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f3e7630dee_0_415"/>
          <p:cNvSpPr txBox="1"/>
          <p:nvPr/>
        </p:nvSpPr>
        <p:spPr>
          <a:xfrm>
            <a:off x="620395" y="1701148"/>
            <a:ext cx="110007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Sensor ultrass</a:t>
            </a: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ônico HC-SR04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Lista de materiais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Desenvolvimento da atividade 9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Sensor ultrass</a:t>
            </a: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ônico</a:t>
            </a: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: código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2" name="Google Shape;182;g3f3e7630dee_0_415"/>
          <p:cNvCxnSpPr/>
          <p:nvPr/>
        </p:nvCxnSpPr>
        <p:spPr>
          <a:xfrm rot="10800000">
            <a:off x="6287550" y="3077973"/>
            <a:ext cx="4045500" cy="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3" name="Google Shape;183;g3f3e7630dee_0_415"/>
          <p:cNvCxnSpPr/>
          <p:nvPr/>
        </p:nvCxnSpPr>
        <p:spPr>
          <a:xfrm>
            <a:off x="5970125" y="2137775"/>
            <a:ext cx="4396800" cy="22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4" name="Google Shape;184;g3f3e7630dee_0_415"/>
          <p:cNvCxnSpPr/>
          <p:nvPr/>
        </p:nvCxnSpPr>
        <p:spPr>
          <a:xfrm flipH="1" rot="10800000">
            <a:off x="5579350" y="3583150"/>
            <a:ext cx="4788300" cy="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5" name="Google Shape;185;g3f3e7630dee_0_415"/>
          <p:cNvCxnSpPr/>
          <p:nvPr/>
        </p:nvCxnSpPr>
        <p:spPr>
          <a:xfrm flipH="1" rot="10800000">
            <a:off x="3930800" y="2596925"/>
            <a:ext cx="6402300" cy="1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86" name="Google Shape;186;g3f3e7630dee_0_415"/>
          <p:cNvSpPr txBox="1"/>
          <p:nvPr/>
        </p:nvSpPr>
        <p:spPr>
          <a:xfrm>
            <a:off x="10367065" y="1707194"/>
            <a:ext cx="6393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3f3e7630dee_0_415"/>
          <p:cNvSpPr txBox="1"/>
          <p:nvPr/>
        </p:nvSpPr>
        <p:spPr>
          <a:xfrm>
            <a:off x="740951" y="641150"/>
            <a:ext cx="89619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Sumário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900" y="1319475"/>
            <a:ext cx="3249300" cy="217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"/>
          <p:cNvSpPr txBox="1"/>
          <p:nvPr>
            <p:ph type="title"/>
          </p:nvPr>
        </p:nvSpPr>
        <p:spPr>
          <a:xfrm>
            <a:off x="2238707" y="96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pt-BR" sz="4800"/>
              <a:t>Sensor Ultrassônico HC-SR04</a:t>
            </a:r>
            <a:endParaRPr/>
          </a:p>
        </p:txBody>
      </p:sp>
      <p:grpSp>
        <p:nvGrpSpPr>
          <p:cNvPr id="194" name="Google Shape;194;p9"/>
          <p:cNvGrpSpPr/>
          <p:nvPr/>
        </p:nvGrpSpPr>
        <p:grpSpPr>
          <a:xfrm>
            <a:off x="0" y="0"/>
            <a:ext cx="12192635" cy="332105"/>
            <a:chOff x="0" y="0"/>
            <a:chExt cx="12192635" cy="332105"/>
          </a:xfrm>
        </p:grpSpPr>
        <p:sp>
          <p:nvSpPr>
            <p:cNvPr id="195" name="Google Shape;195;p9"/>
            <p:cNvSpPr/>
            <p:nvPr/>
          </p:nvSpPr>
          <p:spPr>
            <a:xfrm>
              <a:off x="0" y="0"/>
              <a:ext cx="12192635" cy="332105"/>
            </a:xfrm>
            <a:custGeom>
              <a:rect b="b" l="l" r="r" t="t"/>
              <a:pathLst>
                <a:path extrusionOk="0" h="988" w="5727">
                  <a:moveTo>
                    <a:pt x="0" y="25"/>
                  </a:moveTo>
                  <a:lnTo>
                    <a:pt x="12" y="0"/>
                  </a:lnTo>
                  <a:lnTo>
                    <a:pt x="5727" y="0"/>
                  </a:lnTo>
                  <a:lnTo>
                    <a:pt x="5255" y="988"/>
                  </a:lnTo>
                  <a:lnTo>
                    <a:pt x="0" y="988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F0E6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0" y="0"/>
              <a:ext cx="11519535" cy="332105"/>
            </a:xfrm>
            <a:custGeom>
              <a:rect b="b" l="l" r="r" t="t"/>
              <a:pathLst>
                <a:path extrusionOk="0" h="988" w="5727">
                  <a:moveTo>
                    <a:pt x="0" y="25"/>
                  </a:moveTo>
                  <a:lnTo>
                    <a:pt x="12" y="0"/>
                  </a:lnTo>
                  <a:lnTo>
                    <a:pt x="5727" y="0"/>
                  </a:lnTo>
                  <a:lnTo>
                    <a:pt x="5255" y="988"/>
                  </a:lnTo>
                  <a:lnTo>
                    <a:pt x="0" y="988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4561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97" name="Google Shape;197;p9"/>
          <p:cNvSpPr txBox="1"/>
          <p:nvPr/>
        </p:nvSpPr>
        <p:spPr>
          <a:xfrm>
            <a:off x="764931" y="1890346"/>
            <a:ext cx="29278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328775" y="1319475"/>
            <a:ext cx="6615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 sensor ultrassônico é um componente eletrônico que é utilizado para detectar a presença de seres/objetos e medir distâncias. O seu funcionamento se dá em três etapas: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597398" y="3561750"/>
            <a:ext cx="103428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i="0"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Emissão do sinal: O sensor emite um pulso ultrassônico (40 kHz) pelo transdutor Trigger.</a:t>
            </a:r>
            <a:br>
              <a:rPr i="0"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i="0"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Recepção do eco: O som reflete em um objeto e volta para o sensor, captado pelo transdutor Echo.</a:t>
            </a:r>
            <a:br>
              <a:rPr i="0"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i="0"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Cálculo da distância: O tempo entre a emissão e a recepção é convertido em distância (usando a velocidade do som no ar: ~343 m/s).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3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3"/>
          <p:cNvGrpSpPr/>
          <p:nvPr/>
        </p:nvGrpSpPr>
        <p:grpSpPr>
          <a:xfrm>
            <a:off x="2471163" y="1854825"/>
            <a:ext cx="6577200" cy="4371300"/>
            <a:chOff x="137884" y="2139812"/>
            <a:chExt cx="6577200" cy="4371300"/>
          </a:xfrm>
        </p:grpSpPr>
        <p:grpSp>
          <p:nvGrpSpPr>
            <p:cNvPr id="210" name="Google Shape;210;p3"/>
            <p:cNvGrpSpPr/>
            <p:nvPr/>
          </p:nvGrpSpPr>
          <p:grpSpPr>
            <a:xfrm>
              <a:off x="137884" y="2139812"/>
              <a:ext cx="6577200" cy="4371300"/>
              <a:chOff x="320048" y="2504937"/>
              <a:chExt cx="6577200" cy="4371300"/>
            </a:xfrm>
          </p:grpSpPr>
          <p:sp>
            <p:nvSpPr>
              <p:cNvPr id="211" name="Google Shape;211;p3"/>
              <p:cNvSpPr txBox="1"/>
              <p:nvPr/>
            </p:nvSpPr>
            <p:spPr>
              <a:xfrm>
                <a:off x="320048" y="2504937"/>
                <a:ext cx="6577200" cy="437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406400" lvl="0" marL="4572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Times New Roman"/>
                  <a:buChar char="-"/>
                </a:pPr>
                <a:r>
                  <a:rPr lang="pt-BR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🖳 Notebook; </a:t>
                </a:r>
                <a:endParaRPr sz="2800"/>
              </a:p>
              <a:p>
                <a:pPr indent="-406400" lvl="0" marL="4572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Times New Roman"/>
                  <a:buChar char="-"/>
                </a:pPr>
                <a:r>
                  <a:rPr lang="pt-BR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Arduino UNO R3 + Cabo USB A/B;</a:t>
                </a:r>
                <a:endParaRPr sz="2800"/>
              </a:p>
              <a:p>
                <a:pPr indent="-406400" lvl="0" marL="4572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Times New Roman"/>
                  <a:buChar char="-"/>
                </a:pPr>
                <a:r>
                  <a:rPr lang="pt-BR" sz="2800"/>
                  <a:t>-  </a:t>
                </a:r>
                <a:r>
                  <a:rPr lang="pt-BR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Protoboard (Placa de ensaio);</a:t>
                </a:r>
                <a:endParaRPr sz="2800"/>
              </a:p>
              <a:p>
                <a:pPr indent="-406400" lvl="0" marL="4572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Times New Roman"/>
                  <a:buChar char="-"/>
                </a:pPr>
                <a:r>
                  <a:rPr lang="pt-BR" sz="2800"/>
                  <a:t>-      </a:t>
                </a:r>
                <a:r>
                  <a:rPr lang="pt-BR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6 Jumpers macho x macho;</a:t>
                </a:r>
                <a:endParaRPr sz="2800"/>
              </a:p>
              <a:p>
                <a:pPr indent="-406400" lvl="0" marL="4572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Times New Roman"/>
                  <a:buChar char="-"/>
                </a:pPr>
                <a:r>
                  <a:rPr lang="pt-BR" sz="2800"/>
                  <a:t>   </a:t>
                </a:r>
                <a:r>
                  <a:rPr lang="pt-BR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 Sensor ultrassônico HC-SR04;</a:t>
                </a:r>
                <a:endParaRPr sz="2800"/>
              </a:p>
              <a:p>
                <a:pPr indent="-406400" lvl="0" marL="4572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Times New Roman"/>
                  <a:buChar char="-"/>
                </a:pPr>
                <a:r>
                  <a:rPr lang="pt-BR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 </a:t>
                </a:r>
                <a:r>
                  <a:rPr lang="pt-BR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 Led 5mm vermelho;</a:t>
                </a:r>
                <a:endParaRPr sz="2800"/>
              </a:p>
              <a:p>
                <a:pPr indent="-406400" lvl="0" marL="4572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Char char="-"/>
                </a:pPr>
                <a:r>
                  <a:rPr lang="pt-BR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 1 </a:t>
                </a:r>
                <a:r>
                  <a:rPr lang="pt-BR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Resistor de 220</a:t>
                </a:r>
                <a:r>
                  <a:rPr lang="pt-BR" sz="2800">
                    <a:solidFill>
                      <a:schemeClr val="dk1"/>
                    </a:solidFill>
                    <a:latin typeface="Play"/>
                    <a:ea typeface="Play"/>
                    <a:cs typeface="Play"/>
                    <a:sym typeface="Play"/>
                  </a:rPr>
                  <a:t>Ω</a:t>
                </a:r>
                <a:endParaRPr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12" name="Google Shape;212;p3"/>
              <p:cNvGrpSpPr/>
              <p:nvPr/>
            </p:nvGrpSpPr>
            <p:grpSpPr>
              <a:xfrm>
                <a:off x="770224" y="3389774"/>
                <a:ext cx="702976" cy="1309246"/>
                <a:chOff x="770224" y="3389774"/>
                <a:chExt cx="702976" cy="1309246"/>
              </a:xfrm>
            </p:grpSpPr>
            <p:pic>
              <p:nvPicPr>
                <p:cNvPr id="213" name="Google Shape;213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42341" y="3389774"/>
                  <a:ext cx="216495" cy="188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14" name="Google Shape;214;p3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842341" y="3642030"/>
                  <a:ext cx="216495" cy="2133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15" name="Google Shape;215;p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770224" y="3958033"/>
                  <a:ext cx="702976" cy="2133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16" name="Google Shape;216;p3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770224" y="4354517"/>
                  <a:ext cx="278434" cy="3445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pic>
          <p:nvPicPr>
            <p:cNvPr id="217" name="Google Shape;217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82599" y="4871246"/>
              <a:ext cx="401843" cy="2095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82599" y="4409026"/>
              <a:ext cx="350146" cy="2324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" name="Google Shape;219;p3"/>
          <p:cNvSpPr txBox="1"/>
          <p:nvPr/>
        </p:nvSpPr>
        <p:spPr>
          <a:xfrm>
            <a:off x="740951" y="641150"/>
            <a:ext cx="89619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Lista de materiais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g3f3e7630dee_0_498"/>
          <p:cNvPicPr preferRelativeResize="0"/>
          <p:nvPr/>
        </p:nvPicPr>
        <p:blipFill rotWithShape="1">
          <a:blip r:embed="rId3">
            <a:alphaModFix/>
          </a:blip>
          <a:srcRect b="8731" l="0" r="11198" t="6831"/>
          <a:stretch/>
        </p:blipFill>
        <p:spPr>
          <a:xfrm>
            <a:off x="2423725" y="1585925"/>
            <a:ext cx="7344550" cy="477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f3e7630dee_0_498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g3f3e7630dee_0_498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g3f3e7630dee_0_498"/>
          <p:cNvSpPr txBox="1"/>
          <p:nvPr>
            <p:ph idx="12" type="sldNum"/>
          </p:nvPr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f3e7630dee_0_498"/>
          <p:cNvSpPr txBox="1"/>
          <p:nvPr/>
        </p:nvSpPr>
        <p:spPr>
          <a:xfrm>
            <a:off x="740951" y="641150"/>
            <a:ext cx="89619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Desenvolvimento da atividade 9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10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200" y="1897793"/>
            <a:ext cx="7395681" cy="4138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0650" y="1300250"/>
            <a:ext cx="4750147" cy="533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0"/>
          <p:cNvSpPr txBox="1"/>
          <p:nvPr/>
        </p:nvSpPr>
        <p:spPr>
          <a:xfrm>
            <a:off x="740951" y="641150"/>
            <a:ext cx="89619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Sensor ultrassônico: código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3e7630dee_0_173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f3e7630dee_0_173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3e7630dee_0_173"/>
          <p:cNvSpPr txBox="1"/>
          <p:nvPr>
            <p:ph type="ctrTitle"/>
          </p:nvPr>
        </p:nvSpPr>
        <p:spPr>
          <a:xfrm>
            <a:off x="620395" y="892175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pt-BR" sz="4890">
                <a:latin typeface="Times New Roman"/>
                <a:ea typeface="Times New Roman"/>
                <a:cs typeface="Times New Roman"/>
                <a:sym typeface="Times New Roman"/>
              </a:rPr>
              <a:t>Referência</a:t>
            </a:r>
            <a:endParaRPr/>
          </a:p>
        </p:txBody>
      </p:sp>
      <p:sp>
        <p:nvSpPr>
          <p:cNvPr id="249" name="Google Shape;249;g3f3e7630dee_0_173"/>
          <p:cNvSpPr txBox="1"/>
          <p:nvPr/>
        </p:nvSpPr>
        <p:spPr>
          <a:xfrm>
            <a:off x="620395" y="1800225"/>
            <a:ext cx="106362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OLIVEIRA, Marcelo Eduardo de; SOUZA, Matheus Fernando Lima Zuccherelli de; LIBERA, Giovanni Polette Dalla; OLIVEIRA, Renata Lima Zuccherelli de; TECH, Adriano Rogério Bruno.          </a:t>
            </a:r>
            <a:r>
              <a:rPr b="1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Introdução à Robótica Educacional com Arduino – Hands On!: Iniciante</a:t>
            </a: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Pirassununga: Faculdade de Zootecnia e Engenharia de Alimentos da USP, 2020. Disponível em: &lt;https://www.livrosabertos.abcd.usp.br/portaldelivrosUSP/catalog/book/483&gt;. Acesso em: 21 mar. 2025.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7" name="Google Shape;2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775" y="1915477"/>
            <a:ext cx="2335530" cy="30270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12"/>
          <p:cNvGrpSpPr/>
          <p:nvPr/>
        </p:nvGrpSpPr>
        <p:grpSpPr>
          <a:xfrm>
            <a:off x="8584906" y="2035541"/>
            <a:ext cx="3846195" cy="3256280"/>
            <a:chOff x="7987030" y="2051050"/>
            <a:chExt cx="3846195" cy="3256280"/>
          </a:xfrm>
        </p:grpSpPr>
        <p:pic>
          <p:nvPicPr>
            <p:cNvPr id="259" name="Google Shape;259;p12"/>
            <p:cNvPicPr preferRelativeResize="0"/>
            <p:nvPr/>
          </p:nvPicPr>
          <p:blipFill rotWithShape="1">
            <a:blip r:embed="rId4">
              <a:alphaModFix/>
            </a:blip>
            <a:srcRect b="-4341" l="-1229" r="69262" t="-2791"/>
            <a:stretch/>
          </p:blipFill>
          <p:spPr>
            <a:xfrm>
              <a:off x="8963659" y="2051050"/>
              <a:ext cx="1892935" cy="17964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12"/>
            <p:cNvPicPr preferRelativeResize="0"/>
            <p:nvPr/>
          </p:nvPicPr>
          <p:blipFill rotWithShape="1">
            <a:blip r:embed="rId4">
              <a:alphaModFix/>
            </a:blip>
            <a:srcRect b="-5708" l="32768" r="-8782" t="5708"/>
            <a:stretch/>
          </p:blipFill>
          <p:spPr>
            <a:xfrm>
              <a:off x="7987030" y="3847465"/>
              <a:ext cx="3846195" cy="14598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1" name="Google Shape;261;p12"/>
          <p:cNvSpPr txBox="1"/>
          <p:nvPr>
            <p:ph type="ctrTitle"/>
          </p:nvPr>
        </p:nvSpPr>
        <p:spPr>
          <a:xfrm>
            <a:off x="2529056" y="2357388"/>
            <a:ext cx="6878714" cy="13062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pt-BR" sz="4400"/>
              <a:t>Agradecemos pela atenção!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2025-03-28T17:09:35Z</dcterms:created>
  <dc:creator>Isaque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1046-12.2.0.20326</vt:lpwstr>
  </property>
  <property fmtid="{D5CDD505-2E9C-101B-9397-08002B2CF9AE}" pid="3" name="ICV">
    <vt:lpwstr>FB10A6FDB81D4AC0B9C0F7C5A6FD39F0_11</vt:lpwstr>
  </property>
</Properties>
</file>